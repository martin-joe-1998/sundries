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C7EE78-43EA-FF3A-F15E-D53B5147D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A60749-A5F5-0963-0B8D-6794287F3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ADF07B-1ACE-0A36-DCB0-CAC6C55D6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A629-8DD3-42BD-A8A4-B3A1513D838E}" type="datetimeFigureOut">
              <a:rPr lang="zh-CN" altLang="en-US" smtClean="0"/>
              <a:t>2025/8/3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FFBD6F-DF50-17DE-FDAA-CB169F240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77D65D-23DA-43E5-0C3F-2FAB6BA81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124F6-9D72-472D-A0C9-5C5106ABBB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9159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297ACD-092F-CC01-E207-B346D2F3D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406D2E-B50E-BBB8-B6CF-F05FBA0FC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1B147E-9EFC-C70C-8E70-AB3F6BED2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A629-8DD3-42BD-A8A4-B3A1513D838E}" type="datetimeFigureOut">
              <a:rPr lang="zh-CN" altLang="en-US" smtClean="0"/>
              <a:t>2025/8/3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191CF8-D52C-89E2-B046-7C39709D5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694805-5F72-2354-BFB9-24BF3415B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124F6-9D72-472D-A0C9-5C5106ABBB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443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63B505-416C-61FD-D74B-27871844E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2012D89-1399-1F74-8C98-440946232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0697AA-4C8C-9E4C-CC98-DFD7907B3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A629-8DD3-42BD-A8A4-B3A1513D838E}" type="datetimeFigureOut">
              <a:rPr lang="zh-CN" altLang="en-US" smtClean="0"/>
              <a:t>2025/8/3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46E23A-0350-B736-B517-1293C6538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AC8590-CED0-EDD8-EE06-0B5C4E1B4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124F6-9D72-472D-A0C9-5C5106ABBB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9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69266C-4792-0663-EB4E-2DED65A3A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310B7B-2FE7-1D9C-191D-A2B4D80AEA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DB6EFFD-A038-C260-3525-458A334D0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DF3D92-2276-AA5C-FA46-A785272A6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A629-8DD3-42BD-A8A4-B3A1513D838E}" type="datetimeFigureOut">
              <a:rPr lang="zh-CN" altLang="en-US" smtClean="0"/>
              <a:t>2025/8/3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7F0B11-64E3-84B2-DFC4-965F6161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E3397F-6A0B-07B6-A766-46163F537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124F6-9D72-472D-A0C9-5C5106ABBB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66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9CB377-E862-B396-7A7E-651BCA7AB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406847-C70E-7AFA-E1E0-77BFBEEC0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9725F8-EB30-D734-8CF3-4A9C76DC4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4A1C2DB-21B2-8B42-DED3-98E483D7B9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BBB5064-AC64-4F43-BF2D-1D53493D48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4516B95-1CF5-FFAA-1286-C130CFA9F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A629-8DD3-42BD-A8A4-B3A1513D838E}" type="datetimeFigureOut">
              <a:rPr lang="zh-CN" altLang="en-US" smtClean="0"/>
              <a:t>2025/8/3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C6657C6-C829-E4D8-7C07-4405F26A3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D1E3811-0564-757B-8F08-ED85D992D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124F6-9D72-472D-A0C9-5C5106ABBB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713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7875DB-32D3-A9FB-2C2D-23CD83D63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1BAD19-25A4-73B5-CAA5-493BF8C28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A629-8DD3-42BD-A8A4-B3A1513D838E}" type="datetimeFigureOut">
              <a:rPr lang="zh-CN" altLang="en-US" smtClean="0"/>
              <a:t>2025/8/3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5C23827-F81D-AD28-7E7B-258330524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508B25-E88D-8424-1E5B-B93140C2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124F6-9D72-472D-A0C9-5C5106ABBB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97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705FCE-13F2-E200-69B4-E89C97CE5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A629-8DD3-42BD-A8A4-B3A1513D838E}" type="datetimeFigureOut">
              <a:rPr lang="zh-CN" altLang="en-US" smtClean="0"/>
              <a:t>2025/8/3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DFF656B-CEFA-5510-5E1B-7FAA06EF0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19DBA5-971D-8986-B077-491250EA4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124F6-9D72-472D-A0C9-5C5106ABBB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4296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8C4452-29D3-74A5-C902-A04744D84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D394DC-C492-0B4B-DBA2-C63F80838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676544-541E-6E3F-F46A-A28EC2336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F72892-605B-9BB6-2367-4BD88E5EA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A629-8DD3-42BD-A8A4-B3A1513D838E}" type="datetimeFigureOut">
              <a:rPr lang="zh-CN" altLang="en-US" smtClean="0"/>
              <a:t>2025/8/3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F94C6B-E5C2-3D91-3451-0B38CD9D9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6BEC78-8D4B-E036-62C0-7DA0E4FAE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124F6-9D72-472D-A0C9-5C5106ABBB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142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393DCE-E111-3ECA-C90D-E93C81C71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46E7A18-5B13-67E3-C416-F0E11B43E5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988928-6455-FCEF-2789-307982054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66CCDB-D702-40F2-D36B-E9D8EB4C2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A629-8DD3-42BD-A8A4-B3A1513D838E}" type="datetimeFigureOut">
              <a:rPr lang="zh-CN" altLang="en-US" smtClean="0"/>
              <a:t>2025/8/3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E9BC0A-5AA9-CC02-C216-ECBCA0AE9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BEF9B9-4ADD-20F9-7DB6-D663BFD8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124F6-9D72-472D-A0C9-5C5106ABBB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7581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7EF251-4C0A-6B34-ABE6-F4D0A237F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B406433-20B3-A95D-F024-36FE89884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3E7790-F191-4A6A-A391-6A803783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A629-8DD3-42BD-A8A4-B3A1513D838E}" type="datetimeFigureOut">
              <a:rPr lang="zh-CN" altLang="en-US" smtClean="0"/>
              <a:t>2025/8/3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A83236-CB9C-AA1D-91D2-939AFCC3C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CAD6C3-95C5-F594-79C5-87995DCCD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124F6-9D72-472D-A0C9-5C5106ABBB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00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169E283-29BA-564D-6913-FB58E0D547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3ABBBE-0C4C-0260-6F44-60949DA4E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3C7022-BE99-98DE-5B13-0608159E1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A629-8DD3-42BD-A8A4-B3A1513D838E}" type="datetimeFigureOut">
              <a:rPr lang="zh-CN" altLang="en-US" smtClean="0"/>
              <a:t>2025/8/3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D824C4-C755-AD65-8FFD-41D1FD2CB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0722AF-3C02-E311-60B8-A4E20A997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124F6-9D72-472D-A0C9-5C5106ABBB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1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DA13AC9-42F6-2D8D-DCB5-7782107EE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22AE88-200F-E5E2-2694-92E45A161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B5DCED-47F7-0ED6-1C39-95A887017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49A629-8DD3-42BD-A8A4-B3A1513D838E}" type="datetimeFigureOut">
              <a:rPr lang="zh-CN" altLang="en-US" smtClean="0"/>
              <a:t>2025/8/3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EBEE7F-7B2A-50E8-700D-4222796FD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BFF5DE-DD80-BDC0-E0C5-358D4CFA2C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9124F6-9D72-472D-A0C9-5C5106ABBB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704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154464-A718-A8CE-B9AE-E4F88F3A02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45326"/>
            <a:ext cx="9144000" cy="1967347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HOW TO PLAY THE UNITY SHADER</a:t>
            </a:r>
            <a:br>
              <a:rPr lang="en-US" altLang="zh-CN" sz="40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zh-CN" sz="40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</a:t>
            </a:r>
            <a:br>
              <a:rPr lang="en-US" altLang="zh-CN" sz="40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zh-CN" sz="40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SIX EASY LESSONS</a:t>
            </a:r>
            <a:endParaRPr lang="zh-CN" altLang="en-US" sz="4000" dirty="0">
              <a:solidFill>
                <a:srgbClr val="FFC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F4E31ED-2CFB-A0F9-AEA4-8349F15ADC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16383" y="6311481"/>
            <a:ext cx="1437373" cy="454794"/>
          </a:xfrm>
        </p:spPr>
        <p:txBody>
          <a:bodyPr/>
          <a:lstStyle/>
          <a:p>
            <a:r>
              <a:rPr lang="en-US" altLang="zh-CN" dirty="0">
                <a:solidFill>
                  <a:srgbClr val="FFC000"/>
                </a:solidFill>
              </a:rPr>
              <a:t>By H. Joe</a:t>
            </a:r>
            <a:endParaRPr lang="zh-CN" altLang="en-US" dirty="0">
              <a:solidFill>
                <a:srgbClr val="FFC000"/>
              </a:solidFill>
            </a:endParaRPr>
          </a:p>
        </p:txBody>
      </p:sp>
      <p:pic>
        <p:nvPicPr>
          <p:cNvPr id="7" name="图片 6" descr="图表&#10;&#10;AI 生成的内容可能不正确。">
            <a:extLst>
              <a:ext uri="{FF2B5EF4-FFF2-40B4-BE49-F238E27FC236}">
                <a16:creationId xmlns:a16="http://schemas.microsoft.com/office/drawing/2014/main" id="{13FC3B1F-00BD-2368-0984-53A32D2FF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3756" y="6219756"/>
            <a:ext cx="638244" cy="63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804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739917-8C7E-4318-8CD4-7734F4070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1" y="365126"/>
            <a:ext cx="1905000" cy="539649"/>
          </a:xfrm>
        </p:spPr>
        <p:txBody>
          <a:bodyPr>
            <a:noAutofit/>
          </a:bodyPr>
          <a:lstStyle/>
          <a:p>
            <a:r>
              <a:rPr lang="ja-JP" altLang="en-US" sz="3200" b="1" dirty="0">
                <a:solidFill>
                  <a:srgbClr val="FFC000"/>
                </a:solidFill>
                <a:latin typeface="+mn-ea"/>
                <a:ea typeface="+mn-ea"/>
              </a:rPr>
              <a:t>全体説明</a:t>
            </a:r>
            <a:endParaRPr lang="zh-CN" altLang="en-US" sz="3200" b="1" dirty="0">
              <a:solidFill>
                <a:srgbClr val="FFC000"/>
              </a:solidFill>
              <a:latin typeface="+mn-ea"/>
              <a:ea typeface="+mn-ea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4FC3B6-1051-0B87-1321-3F0F3948F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1028"/>
            <a:ext cx="10515600" cy="53357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 dirty="0">
                <a:solidFill>
                  <a:srgbClr val="FFC000"/>
                </a:solidFill>
              </a:rPr>
              <a:t>　</a:t>
            </a:r>
            <a:r>
              <a:rPr lang="en-US" altLang="ja-JP" sz="2400" dirty="0">
                <a:solidFill>
                  <a:srgbClr val="FFC000"/>
                </a:solidFill>
              </a:rPr>
              <a:t>Lesson 1</a:t>
            </a:r>
            <a:r>
              <a:rPr lang="ja-JP" altLang="en-US" sz="2400" dirty="0">
                <a:solidFill>
                  <a:srgbClr val="FFC000"/>
                </a:solidFill>
              </a:rPr>
              <a:t>に入る前に、まずは簡単な説明をいたします。</a:t>
            </a:r>
            <a:endParaRPr lang="en-US" altLang="ja-JP" sz="24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altLang="ja-JP" sz="24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400" dirty="0">
                <a:solidFill>
                  <a:srgbClr val="FFC000"/>
                </a:solidFill>
              </a:rPr>
              <a:t>　このチュートリアルは、</a:t>
            </a:r>
            <a:r>
              <a:rPr lang="en-US" altLang="ja-JP" sz="2400" dirty="0">
                <a:solidFill>
                  <a:srgbClr val="FFC000"/>
                </a:solidFill>
              </a:rPr>
              <a:t>Unity 6000.0.43f1 3D built-in </a:t>
            </a:r>
            <a:r>
              <a:rPr lang="ja-JP" altLang="en-US" sz="2400" dirty="0">
                <a:solidFill>
                  <a:srgbClr val="FFC000"/>
                </a:solidFill>
              </a:rPr>
              <a:t>の環境で作りました。</a:t>
            </a:r>
            <a:endParaRPr lang="en-US" altLang="ja-JP" sz="24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400" dirty="0">
                <a:solidFill>
                  <a:srgbClr val="FFC000"/>
                </a:solidFill>
              </a:rPr>
              <a:t>　</a:t>
            </a:r>
            <a:r>
              <a:rPr lang="en-US" altLang="ja-JP" sz="2400" dirty="0">
                <a:solidFill>
                  <a:srgbClr val="FFC000"/>
                </a:solidFill>
              </a:rPr>
              <a:t>Unity </a:t>
            </a:r>
            <a:r>
              <a:rPr lang="ja-JP" altLang="en-US" sz="2400" dirty="0">
                <a:solidFill>
                  <a:srgbClr val="FFC000"/>
                </a:solidFill>
              </a:rPr>
              <a:t>の </a:t>
            </a:r>
            <a:r>
              <a:rPr lang="en-US" altLang="ja-JP" sz="2400" dirty="0">
                <a:solidFill>
                  <a:srgbClr val="FFC000"/>
                </a:solidFill>
              </a:rPr>
              <a:t>Shaderlab(.shader) </a:t>
            </a:r>
            <a:r>
              <a:rPr lang="ja-JP" altLang="en-US" sz="2400" dirty="0">
                <a:solidFill>
                  <a:srgbClr val="FFC000"/>
                </a:solidFill>
              </a:rPr>
              <a:t>は、頂点シェーダやピクセルシェーダの部分</a:t>
            </a:r>
            <a:endParaRPr lang="en-US" altLang="ja-JP" sz="24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400" dirty="0">
                <a:solidFill>
                  <a:srgbClr val="FFC000"/>
                </a:solidFill>
              </a:rPr>
              <a:t>だけではなく、レンダリングまわりの様々な設定や多重パス</a:t>
            </a:r>
            <a:r>
              <a:rPr lang="en-US" altLang="ja-JP" sz="2400" dirty="0">
                <a:solidFill>
                  <a:srgbClr val="FFC000"/>
                </a:solidFill>
              </a:rPr>
              <a:t>(Pass)</a:t>
            </a:r>
            <a:r>
              <a:rPr lang="ja-JP" altLang="en-US" sz="2400" dirty="0">
                <a:solidFill>
                  <a:srgbClr val="FFC000"/>
                </a:solidFill>
              </a:rPr>
              <a:t>を行うこ</a:t>
            </a:r>
            <a:endParaRPr lang="en-US" altLang="ja-JP" sz="24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400" dirty="0">
                <a:solidFill>
                  <a:srgbClr val="FFC000"/>
                </a:solidFill>
              </a:rPr>
              <a:t>ともできます。</a:t>
            </a:r>
            <a:endParaRPr lang="en-US" altLang="ja-JP" sz="24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altLang="zh-CN" sz="24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400" dirty="0">
                <a:solidFill>
                  <a:srgbClr val="FFC000"/>
                </a:solidFill>
              </a:rPr>
              <a:t>　今回は、ピクセルシェーダの部分を重点的に取り上げ、簡単なプロシー</a:t>
            </a:r>
            <a:endParaRPr lang="en-US" altLang="ja-JP" sz="24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400" dirty="0">
                <a:solidFill>
                  <a:srgbClr val="FFC000"/>
                </a:solidFill>
              </a:rPr>
              <a:t>ジャル描画について解析します。</a:t>
            </a:r>
            <a:endParaRPr lang="en-US" altLang="ja-JP" sz="24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400" dirty="0">
                <a:solidFill>
                  <a:srgbClr val="FFC000"/>
                </a:solidFill>
              </a:rPr>
              <a:t>　そして、一人でも </a:t>
            </a:r>
            <a:r>
              <a:rPr lang="en-US" altLang="ja-JP" sz="2400" dirty="0">
                <a:solidFill>
                  <a:srgbClr val="FFC000"/>
                </a:solidFill>
              </a:rPr>
              <a:t>Sonolux </a:t>
            </a:r>
            <a:r>
              <a:rPr lang="ja-JP" altLang="en-US" sz="2400" dirty="0">
                <a:solidFill>
                  <a:srgbClr val="FFC000"/>
                </a:solidFill>
              </a:rPr>
              <a:t>のビジュアルを彩れるようになることを目標</a:t>
            </a:r>
            <a:endParaRPr lang="en-US" altLang="ja-JP" sz="24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400" dirty="0">
                <a:solidFill>
                  <a:srgbClr val="FFC000"/>
                </a:solidFill>
              </a:rPr>
              <a:t>としています。</a:t>
            </a:r>
            <a:endParaRPr lang="zh-CN" altLang="en-US" sz="2400" dirty="0">
              <a:solidFill>
                <a:srgbClr val="FFC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B789AC3-9E87-5BF2-0BEB-777DF38939E4}"/>
              </a:ext>
            </a:extLst>
          </p:cNvPr>
          <p:cNvSpPr txBox="1"/>
          <p:nvPr/>
        </p:nvSpPr>
        <p:spPr>
          <a:xfrm>
            <a:off x="8006239" y="6566563"/>
            <a:ext cx="4185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dirty="0">
                <a:solidFill>
                  <a:srgbClr val="FFC000"/>
                </a:solidFill>
                <a:latin typeface="+mj-ea"/>
                <a:ea typeface="+mj-ea"/>
              </a:rPr>
              <a:t>変な日本語表現が出るかもしれませんが</a:t>
            </a:r>
            <a:r>
              <a:rPr lang="en-US" altLang="ja-JP" sz="1200" dirty="0">
                <a:solidFill>
                  <a:srgbClr val="FFC000"/>
                </a:solidFill>
                <a:latin typeface="+mj-ea"/>
                <a:ea typeface="+mj-ea"/>
              </a:rPr>
              <a:t>…</a:t>
            </a:r>
            <a:r>
              <a:rPr lang="ja-JP" altLang="en-US" sz="1200" dirty="0">
                <a:solidFill>
                  <a:srgbClr val="FFC000"/>
                </a:solidFill>
                <a:latin typeface="+mj-ea"/>
                <a:ea typeface="+mj-ea"/>
              </a:rPr>
              <a:t>ご了承ください</a:t>
            </a:r>
            <a:endParaRPr lang="zh-CN" altLang="en-US" sz="1200" dirty="0">
              <a:solidFill>
                <a:srgbClr val="FFC000"/>
              </a:solidFill>
              <a:latin typeface="+mj-ea"/>
              <a:ea typeface="+mj-ea"/>
            </a:endParaRPr>
          </a:p>
        </p:txBody>
      </p:sp>
      <p:pic>
        <p:nvPicPr>
          <p:cNvPr id="1026" name="Picture 2" descr="星のカービィ まんまるスタンプ - LINE スタンプ | LINE STORE">
            <a:extLst>
              <a:ext uri="{FF2B5EF4-FFF2-40B4-BE49-F238E27FC236}">
                <a16:creationId xmlns:a16="http://schemas.microsoft.com/office/drawing/2014/main" id="{DB25D579-6DAB-AE97-53E3-F5C277EDE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0519" y="5517210"/>
            <a:ext cx="915835" cy="91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7596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CFCF4-4162-943D-A172-46D599168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E79E42-65D0-F25E-C1C1-388F1B6B0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182246"/>
            <a:ext cx="2001253" cy="635902"/>
          </a:xfrm>
        </p:spPr>
        <p:txBody>
          <a:bodyPr>
            <a:noAutofit/>
          </a:bodyPr>
          <a:lstStyle/>
          <a:p>
            <a:r>
              <a:rPr lang="en-US" altLang="zh-CN" sz="36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Lesson 1</a:t>
            </a:r>
            <a:endParaRPr lang="zh-CN" altLang="en-US" sz="3600" dirty="0">
              <a:solidFill>
                <a:srgbClr val="FFC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D6A0D0-0AB4-CDB2-A7F0-E09B12A3F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1028"/>
            <a:ext cx="10515600" cy="54918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 dirty="0">
                <a:solidFill>
                  <a:srgbClr val="FFC000"/>
                </a:solidFill>
              </a:rPr>
              <a:t>　プロシージャル描画（</a:t>
            </a:r>
            <a:r>
              <a:rPr lang="en-US" altLang="zh-CN" sz="2400" dirty="0">
                <a:solidFill>
                  <a:srgbClr val="FFC000"/>
                </a:solidFill>
              </a:rPr>
              <a:t>P</a:t>
            </a:r>
            <a:r>
              <a:rPr lang="en-US" altLang="ja-JP" sz="2400" dirty="0">
                <a:solidFill>
                  <a:srgbClr val="FFC000"/>
                </a:solidFill>
              </a:rPr>
              <a:t>rocedural </a:t>
            </a:r>
            <a:r>
              <a:rPr lang="en-US" altLang="zh-CN" sz="2400" dirty="0">
                <a:solidFill>
                  <a:srgbClr val="FFC000"/>
                </a:solidFill>
              </a:rPr>
              <a:t>draw</a:t>
            </a:r>
            <a:r>
              <a:rPr lang="ja-JP" altLang="en-US" sz="2400" dirty="0">
                <a:solidFill>
                  <a:srgbClr val="FFC000"/>
                </a:solidFill>
              </a:rPr>
              <a:t>）とは、テクスチャーを使わずに</a:t>
            </a:r>
            <a:endParaRPr lang="en-US" altLang="ja-JP" sz="24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400" dirty="0">
                <a:solidFill>
                  <a:srgbClr val="FFC000"/>
                </a:solidFill>
              </a:rPr>
              <a:t>数学計算のみでパターンを描画するテクニックです。</a:t>
            </a:r>
            <a:endParaRPr lang="en-US" altLang="ja-JP" sz="24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400" dirty="0">
                <a:solidFill>
                  <a:srgbClr val="FFC000"/>
                </a:solidFill>
              </a:rPr>
              <a:t>　もっと砕いて言うと、幾何学の応用です！</a:t>
            </a:r>
            <a:endParaRPr lang="en-US" altLang="ja-JP" sz="24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altLang="ja-JP" sz="24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altLang="ja-JP" sz="24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altLang="ja-JP" sz="24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altLang="ja-JP" sz="24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altLang="ja-JP" sz="24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altLang="ja-JP" sz="24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altLang="ja-JP" sz="24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400" dirty="0">
                <a:solidFill>
                  <a:srgbClr val="FFC000"/>
                </a:solidFill>
              </a:rPr>
              <a:t>　この前にお見せした星空の </a:t>
            </a:r>
            <a:r>
              <a:rPr lang="en-US" altLang="ja-JP" sz="2400" dirty="0">
                <a:solidFill>
                  <a:srgbClr val="FFC000"/>
                </a:solidFill>
              </a:rPr>
              <a:t>Shader </a:t>
            </a:r>
            <a:r>
              <a:rPr lang="ja-JP" altLang="en-US" sz="2400" dirty="0">
                <a:solidFill>
                  <a:srgbClr val="FFC000"/>
                </a:solidFill>
              </a:rPr>
              <a:t>は、</a:t>
            </a:r>
            <a:r>
              <a:rPr lang="en-US" altLang="ja-JP" sz="2400" dirty="0">
                <a:solidFill>
                  <a:srgbClr val="FFC000"/>
                </a:solidFill>
              </a:rPr>
              <a:t>3D</a:t>
            </a:r>
            <a:r>
              <a:rPr lang="ja-JP" altLang="en-US" sz="2400" dirty="0">
                <a:solidFill>
                  <a:srgbClr val="FFC000"/>
                </a:solidFill>
              </a:rPr>
              <a:t>幾何学の知識も必要になります</a:t>
            </a:r>
            <a:endParaRPr lang="en-US" altLang="ja-JP" sz="24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400" dirty="0">
                <a:solidFill>
                  <a:srgbClr val="FFC000"/>
                </a:solidFill>
              </a:rPr>
              <a:t>が、今回は平面的な描画しかしないので、</a:t>
            </a:r>
            <a:r>
              <a:rPr lang="en-US" altLang="ja-JP" sz="2400" dirty="0">
                <a:solidFill>
                  <a:srgbClr val="FFC000"/>
                </a:solidFill>
              </a:rPr>
              <a:t>2D</a:t>
            </a:r>
            <a:r>
              <a:rPr lang="ja-JP" altLang="en-US" sz="2400" dirty="0">
                <a:solidFill>
                  <a:srgbClr val="FFC000"/>
                </a:solidFill>
              </a:rPr>
              <a:t>幾何学で十分です。</a:t>
            </a:r>
            <a:endParaRPr lang="en-US" altLang="ja-JP" sz="2400" dirty="0">
              <a:solidFill>
                <a:srgbClr val="FFC000"/>
              </a:solidFill>
            </a:endParaRPr>
          </a:p>
        </p:txBody>
      </p:sp>
      <p:pic>
        <p:nvPicPr>
          <p:cNvPr id="4" name="图片 3" descr="图形用户界面&#10;&#10;AI 生成的内容可能不正确。">
            <a:extLst>
              <a:ext uri="{FF2B5EF4-FFF2-40B4-BE49-F238E27FC236}">
                <a16:creationId xmlns:a16="http://schemas.microsoft.com/office/drawing/2014/main" id="{DE0682DF-F19D-87E4-8C79-4A2860644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845" y="2412515"/>
            <a:ext cx="5274310" cy="297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897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B90E9-C4D4-2737-DC36-ABE38EFFF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AF54EE-FE3C-9EA5-6943-836087246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182246"/>
            <a:ext cx="2001253" cy="635902"/>
          </a:xfrm>
        </p:spPr>
        <p:txBody>
          <a:bodyPr>
            <a:noAutofit/>
          </a:bodyPr>
          <a:lstStyle/>
          <a:p>
            <a:r>
              <a:rPr lang="en-US" altLang="zh-CN" sz="36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Lesson 1</a:t>
            </a:r>
            <a:endParaRPr lang="zh-CN" altLang="en-US" sz="3600" dirty="0">
              <a:solidFill>
                <a:srgbClr val="FFC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CD49FA-BBE7-2443-4A8C-02BB020EF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1028"/>
            <a:ext cx="10515600" cy="54918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 dirty="0">
                <a:solidFill>
                  <a:srgbClr val="FFC000"/>
                </a:solidFill>
              </a:rPr>
              <a:t>　</a:t>
            </a:r>
            <a:r>
              <a:rPr lang="en-US" altLang="ja-JP" sz="2400" dirty="0">
                <a:solidFill>
                  <a:srgbClr val="FFC000"/>
                </a:solidFill>
              </a:rPr>
              <a:t>uv</a:t>
            </a:r>
            <a:r>
              <a:rPr lang="ja-JP" altLang="en-US" sz="2400" dirty="0">
                <a:solidFill>
                  <a:srgbClr val="FFC000"/>
                </a:solidFill>
              </a:rPr>
              <a:t>と法線、そして、簡単な行列変換について確認します。</a:t>
            </a:r>
            <a:endParaRPr lang="en-US" altLang="ja-JP" sz="24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400" dirty="0">
                <a:solidFill>
                  <a:srgbClr val="FFC000"/>
                </a:solidFill>
              </a:rPr>
              <a:t>　</a:t>
            </a:r>
            <a:r>
              <a:rPr lang="en-US" altLang="ja-JP" sz="2400" dirty="0">
                <a:solidFill>
                  <a:srgbClr val="FFC000"/>
                </a:solidFill>
              </a:rPr>
              <a:t>Scene</a:t>
            </a:r>
            <a:r>
              <a:rPr lang="ja-JP" altLang="en-US" sz="2400" dirty="0">
                <a:solidFill>
                  <a:srgbClr val="FFC000"/>
                </a:solidFill>
              </a:rPr>
              <a:t>内の </a:t>
            </a:r>
            <a:r>
              <a:rPr lang="en-US" altLang="ja-JP" sz="2400" dirty="0">
                <a:solidFill>
                  <a:srgbClr val="FFC000"/>
                </a:solidFill>
              </a:rPr>
              <a:t>Tutorial 1 </a:t>
            </a:r>
            <a:r>
              <a:rPr lang="ja-JP" altLang="en-US" sz="2400" dirty="0">
                <a:solidFill>
                  <a:srgbClr val="FFC000"/>
                </a:solidFill>
              </a:rPr>
              <a:t>オブジェクトを展開すると、</a:t>
            </a:r>
            <a:r>
              <a:rPr lang="en-US" altLang="ja-JP" sz="2400" dirty="0">
                <a:solidFill>
                  <a:srgbClr val="FFC000"/>
                </a:solidFill>
              </a:rPr>
              <a:t>Quad</a:t>
            </a:r>
            <a:r>
              <a:rPr lang="ja-JP" altLang="en-US" sz="2400" dirty="0">
                <a:solidFill>
                  <a:srgbClr val="FFC000"/>
                </a:solidFill>
              </a:rPr>
              <a:t> と </a:t>
            </a:r>
            <a:r>
              <a:rPr lang="en-US" altLang="ja-JP" sz="2400" dirty="0">
                <a:solidFill>
                  <a:srgbClr val="FFC000"/>
                </a:solidFill>
              </a:rPr>
              <a:t>Plane</a:t>
            </a:r>
            <a:r>
              <a:rPr lang="ja-JP" altLang="en-US" sz="2400" dirty="0">
                <a:solidFill>
                  <a:srgbClr val="FFC000"/>
                </a:solidFill>
              </a:rPr>
              <a:t> が一つず</a:t>
            </a:r>
            <a:endParaRPr lang="en-US" altLang="ja-JP" sz="24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400" dirty="0">
                <a:solidFill>
                  <a:srgbClr val="FFC000"/>
                </a:solidFill>
              </a:rPr>
              <a:t>つ入っており、同じ </a:t>
            </a:r>
            <a:r>
              <a:rPr lang="en-US" altLang="ja-JP" sz="2400" dirty="0">
                <a:solidFill>
                  <a:srgbClr val="FFC000"/>
                </a:solidFill>
              </a:rPr>
              <a:t>Shader(Lesson_1.shader) </a:t>
            </a:r>
            <a:r>
              <a:rPr lang="ja-JP" altLang="en-US" sz="2400" dirty="0">
                <a:solidFill>
                  <a:srgbClr val="FFC000"/>
                </a:solidFill>
              </a:rPr>
              <a:t>が適用されています。</a:t>
            </a:r>
            <a:endParaRPr lang="en-US" altLang="ja-JP" sz="2400" dirty="0">
              <a:solidFill>
                <a:srgbClr val="FFC000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1CF9DF7-6AA6-14B5-5D89-8D124CEAE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521" y="3460597"/>
            <a:ext cx="2990850" cy="17621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2C1C4F4-96AC-9197-CAD1-CEABA06D5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031" y="3198157"/>
            <a:ext cx="6090109" cy="228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134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F2BDE-F3AB-32EF-1A52-10ECB2DD8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EB04A3-75D2-D902-C6B0-A7818C05A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182246"/>
            <a:ext cx="2001253" cy="635902"/>
          </a:xfrm>
        </p:spPr>
        <p:txBody>
          <a:bodyPr>
            <a:noAutofit/>
          </a:bodyPr>
          <a:lstStyle/>
          <a:p>
            <a:r>
              <a:rPr lang="en-US" altLang="zh-CN" sz="36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Lesson 1</a:t>
            </a:r>
            <a:endParaRPr lang="zh-CN" altLang="en-US" sz="3600" dirty="0">
              <a:solidFill>
                <a:srgbClr val="FFC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ED967C-BEEE-21AC-8549-09E26FEE1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0"/>
            <a:ext cx="10515600" cy="29443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 dirty="0">
                <a:solidFill>
                  <a:srgbClr val="FFC000"/>
                </a:solidFill>
              </a:rPr>
              <a:t>　</a:t>
            </a:r>
            <a:r>
              <a:rPr lang="ja-JP" altLang="en-US" sz="2000" dirty="0">
                <a:solidFill>
                  <a:srgbClr val="FFC000"/>
                </a:solidFill>
              </a:rPr>
              <a:t>最初の </a:t>
            </a:r>
            <a:r>
              <a:rPr lang="en-US" altLang="ja-JP" sz="2000" dirty="0">
                <a:solidFill>
                  <a:srgbClr val="FFC000"/>
                </a:solidFill>
              </a:rPr>
              <a:t>Lesson_1.shader </a:t>
            </a:r>
            <a:r>
              <a:rPr lang="ja-JP" altLang="en-US" sz="2000" dirty="0">
                <a:solidFill>
                  <a:srgbClr val="FFC000"/>
                </a:solidFill>
              </a:rPr>
              <a:t>は、平面の</a:t>
            </a:r>
            <a:r>
              <a:rPr lang="en-US" altLang="ja-JP" sz="2000" dirty="0">
                <a:solidFill>
                  <a:srgbClr val="FFC000"/>
                </a:solidFill>
              </a:rPr>
              <a:t>UV</a:t>
            </a:r>
            <a:r>
              <a:rPr lang="ja-JP" altLang="en-US" sz="2000" dirty="0">
                <a:solidFill>
                  <a:srgbClr val="FFC000"/>
                </a:solidFill>
              </a:rPr>
              <a:t>値の積を輝度値として出力する簡単な仕組みに</a:t>
            </a:r>
            <a:endParaRPr lang="en-US" altLang="ja-JP" sz="20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000" dirty="0">
                <a:solidFill>
                  <a:srgbClr val="FFC000"/>
                </a:solidFill>
              </a:rPr>
              <a:t>なっています。</a:t>
            </a:r>
            <a:endParaRPr lang="en-US" altLang="ja-JP" sz="20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000" dirty="0">
                <a:solidFill>
                  <a:srgbClr val="FFC000"/>
                </a:solidFill>
              </a:rPr>
              <a:t>　ここで注目して欲しいのは、</a:t>
            </a:r>
            <a:r>
              <a:rPr lang="en-US" altLang="ja-JP" sz="2000" dirty="0">
                <a:solidFill>
                  <a:srgbClr val="FFC000"/>
                </a:solidFill>
              </a:rPr>
              <a:t>Unity</a:t>
            </a:r>
            <a:r>
              <a:rPr lang="ja-JP" altLang="en-US" sz="2000" dirty="0">
                <a:solidFill>
                  <a:srgbClr val="FFC000"/>
                </a:solidFill>
              </a:rPr>
              <a:t> の </a:t>
            </a:r>
            <a:r>
              <a:rPr lang="en-US" altLang="ja-JP" sz="2000" dirty="0">
                <a:solidFill>
                  <a:srgbClr val="FFC000"/>
                </a:solidFill>
              </a:rPr>
              <a:t>Plane </a:t>
            </a:r>
            <a:r>
              <a:rPr lang="ja-JP" altLang="en-US" sz="2000" dirty="0">
                <a:solidFill>
                  <a:srgbClr val="FFC000"/>
                </a:solidFill>
              </a:rPr>
              <a:t>と </a:t>
            </a:r>
            <a:r>
              <a:rPr lang="en-US" altLang="ja-JP" sz="2000" dirty="0">
                <a:solidFill>
                  <a:srgbClr val="FFC000"/>
                </a:solidFill>
              </a:rPr>
              <a:t>Quad </a:t>
            </a:r>
            <a:r>
              <a:rPr lang="ja-JP" altLang="en-US" sz="2000" dirty="0">
                <a:solidFill>
                  <a:srgbClr val="FFC000"/>
                </a:solidFill>
              </a:rPr>
              <a:t>は同じ</a:t>
            </a:r>
            <a:r>
              <a:rPr lang="en-US" altLang="ja-JP" sz="2000" dirty="0">
                <a:solidFill>
                  <a:srgbClr val="FFC000"/>
                </a:solidFill>
              </a:rPr>
              <a:t>UV</a:t>
            </a:r>
            <a:r>
              <a:rPr lang="ja-JP" altLang="en-US" sz="2000" dirty="0">
                <a:solidFill>
                  <a:srgbClr val="FFC000"/>
                </a:solidFill>
              </a:rPr>
              <a:t>空間ではないという点です。</a:t>
            </a:r>
            <a:endParaRPr lang="en-US" altLang="ja-JP" sz="20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000" dirty="0">
                <a:solidFill>
                  <a:srgbClr val="FFC000"/>
                </a:solidFill>
              </a:rPr>
              <a:t>　ちなみに、</a:t>
            </a:r>
            <a:r>
              <a:rPr lang="en-US" altLang="ja-JP" sz="2000" dirty="0">
                <a:solidFill>
                  <a:srgbClr val="FFC000"/>
                </a:solidFill>
              </a:rPr>
              <a:t>Sonolux</a:t>
            </a:r>
            <a:r>
              <a:rPr lang="ja-JP" altLang="en-US" sz="2000" dirty="0">
                <a:solidFill>
                  <a:srgbClr val="FFC000"/>
                </a:solidFill>
              </a:rPr>
              <a:t>や</a:t>
            </a:r>
            <a:r>
              <a:rPr lang="en-US" altLang="ja-JP" sz="2000" dirty="0">
                <a:solidFill>
                  <a:srgbClr val="FFC000"/>
                </a:solidFill>
              </a:rPr>
              <a:t>Optical 2</a:t>
            </a:r>
            <a:r>
              <a:rPr lang="ja-JP" altLang="en-US" sz="2000" dirty="0">
                <a:solidFill>
                  <a:srgbClr val="FFC000"/>
                </a:solidFill>
              </a:rPr>
              <a:t>が現在使っているのは、上記のどっちでもない左上が原点</a:t>
            </a:r>
            <a:endParaRPr lang="en-US" altLang="ja-JP" sz="20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000" dirty="0">
                <a:solidFill>
                  <a:srgbClr val="FFC000"/>
                </a:solidFill>
              </a:rPr>
              <a:t>になっている</a:t>
            </a:r>
            <a:r>
              <a:rPr lang="en-US" altLang="ja-JP" sz="2000" dirty="0">
                <a:solidFill>
                  <a:srgbClr val="FFC000"/>
                </a:solidFill>
              </a:rPr>
              <a:t>UV</a:t>
            </a:r>
            <a:r>
              <a:rPr lang="ja-JP" altLang="en-US" sz="2000" dirty="0">
                <a:solidFill>
                  <a:srgbClr val="FFC000"/>
                </a:solidFill>
              </a:rPr>
              <a:t>空間です。その理由は</a:t>
            </a:r>
            <a:r>
              <a:rPr lang="en-US" altLang="ja-JP" sz="2000" dirty="0">
                <a:solidFill>
                  <a:srgbClr val="FFC000"/>
                </a:solidFill>
              </a:rPr>
              <a:t>…</a:t>
            </a:r>
            <a:r>
              <a:rPr lang="ja-JP" altLang="en-US" sz="2000" dirty="0">
                <a:solidFill>
                  <a:srgbClr val="FFC000"/>
                </a:solidFill>
              </a:rPr>
              <a:t>自分は画像処理の感覚で描画計算をするクセがあ</a:t>
            </a:r>
            <a:endParaRPr lang="en-US" altLang="ja-JP" sz="20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000" dirty="0">
                <a:solidFill>
                  <a:srgbClr val="FFC000"/>
                </a:solidFill>
              </a:rPr>
              <a:t>るので、画像の座標軸に合わせているだけです。</a:t>
            </a:r>
            <a:endParaRPr lang="en-US" altLang="ja-JP" sz="20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000" dirty="0">
                <a:solidFill>
                  <a:srgbClr val="FFC000"/>
                </a:solidFill>
              </a:rPr>
              <a:t>　初心者は、</a:t>
            </a:r>
            <a:r>
              <a:rPr lang="en-US" altLang="ja-JP" sz="2000" dirty="0">
                <a:solidFill>
                  <a:srgbClr val="FFC000"/>
                </a:solidFill>
              </a:rPr>
              <a:t>XY</a:t>
            </a:r>
            <a:r>
              <a:rPr lang="ja-JP" altLang="en-US" sz="2000" dirty="0">
                <a:solidFill>
                  <a:srgbClr val="FFC000"/>
                </a:solidFill>
              </a:rPr>
              <a:t>平面の第一象限の感覚で、右の </a:t>
            </a:r>
            <a:r>
              <a:rPr lang="en-US" altLang="ja-JP" sz="2000" dirty="0">
                <a:solidFill>
                  <a:srgbClr val="FFC000"/>
                </a:solidFill>
              </a:rPr>
              <a:t>Quad</a:t>
            </a:r>
            <a:r>
              <a:rPr lang="ja-JP" altLang="en-US" sz="2000" dirty="0">
                <a:solidFill>
                  <a:srgbClr val="FFC000"/>
                </a:solidFill>
              </a:rPr>
              <a:t> の</a:t>
            </a:r>
            <a:r>
              <a:rPr lang="en-US" altLang="ja-JP" sz="2000" dirty="0">
                <a:solidFill>
                  <a:srgbClr val="FFC000"/>
                </a:solidFill>
              </a:rPr>
              <a:t>UV</a:t>
            </a:r>
            <a:r>
              <a:rPr lang="ja-JP" altLang="en-US" sz="2000" dirty="0">
                <a:solidFill>
                  <a:srgbClr val="FFC000"/>
                </a:solidFill>
              </a:rPr>
              <a:t>空間を使うのがお勧めです！</a:t>
            </a:r>
            <a:endParaRPr lang="en-US" altLang="ja-JP" sz="2000" dirty="0">
              <a:solidFill>
                <a:srgbClr val="FFC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00E5F71-B5E8-FE94-F223-DB3EE46C0085}"/>
              </a:ext>
            </a:extLst>
          </p:cNvPr>
          <p:cNvSpPr txBox="1"/>
          <p:nvPr/>
        </p:nvSpPr>
        <p:spPr>
          <a:xfrm>
            <a:off x="1263153" y="2751723"/>
            <a:ext cx="3188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solidFill>
                  <a:srgbClr val="92D050"/>
                </a:solidFill>
              </a:rPr>
              <a:t>Lesson_1.shader‘s</a:t>
            </a:r>
            <a:r>
              <a:rPr lang="ja-JP" altLang="en-US" dirty="0">
                <a:solidFill>
                  <a:srgbClr val="92D050"/>
                </a:solidFill>
              </a:rPr>
              <a:t> </a:t>
            </a:r>
            <a:r>
              <a:rPr lang="en-US" altLang="ja-JP" dirty="0">
                <a:solidFill>
                  <a:srgbClr val="92D050"/>
                </a:solidFill>
              </a:rPr>
              <a:t>pixel shader</a:t>
            </a:r>
            <a:endParaRPr lang="zh-CN" altLang="en-US" dirty="0">
              <a:solidFill>
                <a:srgbClr val="92D050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EB074EE-9D9B-C318-C61B-CC874B621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3691" y="818148"/>
            <a:ext cx="6090109" cy="228700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A88CC31-1871-224A-89F5-C225DD260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818148"/>
            <a:ext cx="4038600" cy="1933575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54D26507-6CD4-167D-FE4E-3FF6C5E61560}"/>
              </a:ext>
            </a:extLst>
          </p:cNvPr>
          <p:cNvCxnSpPr>
            <a:cxnSpLocks/>
          </p:cNvCxnSpPr>
          <p:nvPr/>
        </p:nvCxnSpPr>
        <p:spPr>
          <a:xfrm flipV="1">
            <a:off x="9656064" y="1051560"/>
            <a:ext cx="64008" cy="1207008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3A856AE-4701-9E2E-0ABA-6164D19E3441}"/>
              </a:ext>
            </a:extLst>
          </p:cNvPr>
          <p:cNvCxnSpPr>
            <a:cxnSpLocks/>
          </p:cNvCxnSpPr>
          <p:nvPr/>
        </p:nvCxnSpPr>
        <p:spPr>
          <a:xfrm>
            <a:off x="9683496" y="2276856"/>
            <a:ext cx="1271016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D45160FC-70C7-9420-EF91-5CA883D52060}"/>
              </a:ext>
            </a:extLst>
          </p:cNvPr>
          <p:cNvCxnSpPr>
            <a:cxnSpLocks/>
          </p:cNvCxnSpPr>
          <p:nvPr/>
        </p:nvCxnSpPr>
        <p:spPr>
          <a:xfrm flipH="1">
            <a:off x="7388352" y="1179576"/>
            <a:ext cx="2148840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1058807B-DE50-9581-A80F-7D69085EA648}"/>
              </a:ext>
            </a:extLst>
          </p:cNvPr>
          <p:cNvCxnSpPr>
            <a:cxnSpLocks/>
          </p:cNvCxnSpPr>
          <p:nvPr/>
        </p:nvCxnSpPr>
        <p:spPr>
          <a:xfrm>
            <a:off x="9564624" y="1179576"/>
            <a:ext cx="27432" cy="196472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DC202114-1665-7DE0-CC98-467FBD653DF5}"/>
              </a:ext>
            </a:extLst>
          </p:cNvPr>
          <p:cNvSpPr txBox="1"/>
          <p:nvPr/>
        </p:nvSpPr>
        <p:spPr>
          <a:xfrm>
            <a:off x="9597580" y="724316"/>
            <a:ext cx="2449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solidFill>
                  <a:srgbClr val="FFC000"/>
                </a:solidFill>
              </a:rPr>
              <a:t>v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231D1A0-FE32-F3B4-B6A4-2D08A6BFF32D}"/>
              </a:ext>
            </a:extLst>
          </p:cNvPr>
          <p:cNvSpPr txBox="1"/>
          <p:nvPr/>
        </p:nvSpPr>
        <p:spPr>
          <a:xfrm>
            <a:off x="9592056" y="2805746"/>
            <a:ext cx="2449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solidFill>
                  <a:srgbClr val="FFC000"/>
                </a:solidFill>
              </a:rPr>
              <a:t>v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54377F0-DAE8-5294-9B0E-4B92C3F16D91}"/>
              </a:ext>
            </a:extLst>
          </p:cNvPr>
          <p:cNvSpPr txBox="1"/>
          <p:nvPr/>
        </p:nvSpPr>
        <p:spPr>
          <a:xfrm>
            <a:off x="7308144" y="818148"/>
            <a:ext cx="2449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solidFill>
                  <a:srgbClr val="FFC000"/>
                </a:solidFill>
              </a:rPr>
              <a:t>u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EDD58E6-C1BE-4652-704A-4C27792F5088}"/>
              </a:ext>
            </a:extLst>
          </p:cNvPr>
          <p:cNvSpPr txBox="1"/>
          <p:nvPr/>
        </p:nvSpPr>
        <p:spPr>
          <a:xfrm>
            <a:off x="10832020" y="2212848"/>
            <a:ext cx="2449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solidFill>
                  <a:srgbClr val="FFC000"/>
                </a:solidFill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1559053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5397B-B794-49F7-CC26-8A32C49BC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5AB75E-7123-13B1-D041-BB0E0CAA1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182246"/>
            <a:ext cx="2001253" cy="635902"/>
          </a:xfrm>
        </p:spPr>
        <p:txBody>
          <a:bodyPr>
            <a:noAutofit/>
          </a:bodyPr>
          <a:lstStyle/>
          <a:p>
            <a:r>
              <a:rPr lang="en-US" altLang="zh-CN" sz="36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Lesson 1</a:t>
            </a:r>
            <a:endParaRPr lang="zh-CN" altLang="en-US" sz="3600" dirty="0">
              <a:solidFill>
                <a:srgbClr val="FFC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5CD504-9538-8267-BD41-585E1C758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62656"/>
            <a:ext cx="10515600" cy="35302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 dirty="0">
                <a:solidFill>
                  <a:srgbClr val="FFC000"/>
                </a:solidFill>
              </a:rPr>
              <a:t>　</a:t>
            </a:r>
            <a:r>
              <a:rPr lang="ja-JP" altLang="en-US" sz="2000" dirty="0">
                <a:solidFill>
                  <a:srgbClr val="FFC000"/>
                </a:solidFill>
              </a:rPr>
              <a:t>次に、コードをこのように変更すると、</a:t>
            </a:r>
            <a:r>
              <a:rPr lang="en-US" altLang="ja-JP" sz="2000" dirty="0">
                <a:solidFill>
                  <a:srgbClr val="FFC000"/>
                </a:solidFill>
              </a:rPr>
              <a:t>Plane </a:t>
            </a:r>
            <a:r>
              <a:rPr lang="ja-JP" altLang="en-US" sz="2000" dirty="0">
                <a:solidFill>
                  <a:srgbClr val="FFC000"/>
                </a:solidFill>
              </a:rPr>
              <a:t>が緑に、</a:t>
            </a:r>
            <a:r>
              <a:rPr lang="en-US" altLang="ja-JP" sz="2000" dirty="0">
                <a:solidFill>
                  <a:srgbClr val="FFC000"/>
                </a:solidFill>
              </a:rPr>
              <a:t>Quad </a:t>
            </a:r>
            <a:r>
              <a:rPr lang="ja-JP" altLang="en-US" sz="2000" dirty="0">
                <a:solidFill>
                  <a:srgbClr val="FFC000"/>
                </a:solidFill>
              </a:rPr>
              <a:t>が真っ黒になるはずです。</a:t>
            </a:r>
            <a:endParaRPr lang="en-US" altLang="ja-JP" sz="20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000" dirty="0">
                <a:solidFill>
                  <a:srgbClr val="FFC000"/>
                </a:solidFill>
              </a:rPr>
              <a:t>　このコードは、正規化後の </a:t>
            </a:r>
            <a:r>
              <a:rPr lang="en-US" altLang="ja-JP" sz="2000" dirty="0">
                <a:solidFill>
                  <a:srgbClr val="FFC000"/>
                </a:solidFill>
              </a:rPr>
              <a:t>World space </a:t>
            </a:r>
            <a:r>
              <a:rPr lang="ja-JP" altLang="en-US" sz="2000" dirty="0">
                <a:solidFill>
                  <a:srgbClr val="FFC000"/>
                </a:solidFill>
              </a:rPr>
              <a:t>の法線を、色情報として出力しています。</a:t>
            </a:r>
            <a:endParaRPr lang="en-US" altLang="ja-JP" sz="20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000" dirty="0">
                <a:solidFill>
                  <a:srgbClr val="FFC000"/>
                </a:solidFill>
              </a:rPr>
              <a:t>　そして、法線が真上方向の </a:t>
            </a:r>
            <a:r>
              <a:rPr lang="en-US" altLang="ja-JP" sz="2000" dirty="0">
                <a:solidFill>
                  <a:srgbClr val="FFC000"/>
                </a:solidFill>
              </a:rPr>
              <a:t>Plane</a:t>
            </a:r>
            <a:r>
              <a:rPr lang="ja-JP" altLang="en-US" sz="2000" dirty="0">
                <a:solidFill>
                  <a:srgbClr val="FFC000"/>
                </a:solidFill>
              </a:rPr>
              <a:t> は </a:t>
            </a:r>
            <a:r>
              <a:rPr lang="en-US" altLang="ja-JP" sz="2000" dirty="0">
                <a:solidFill>
                  <a:srgbClr val="FFC000"/>
                </a:solidFill>
              </a:rPr>
              <a:t>(0, 1, 0) </a:t>
            </a:r>
            <a:r>
              <a:rPr lang="ja-JP" altLang="en-US" sz="2000" dirty="0">
                <a:solidFill>
                  <a:srgbClr val="FFC000"/>
                </a:solidFill>
              </a:rPr>
              <a:t>の緑に、</a:t>
            </a:r>
            <a:r>
              <a:rPr lang="en-US" altLang="ja-JP" sz="2000" dirty="0">
                <a:solidFill>
                  <a:srgbClr val="FFC000"/>
                </a:solidFill>
              </a:rPr>
              <a:t>Z</a:t>
            </a:r>
            <a:r>
              <a:rPr lang="ja-JP" altLang="en-US" sz="2000" dirty="0">
                <a:solidFill>
                  <a:srgbClr val="FFC000"/>
                </a:solidFill>
              </a:rPr>
              <a:t>軸の負の方向を向いている </a:t>
            </a:r>
            <a:r>
              <a:rPr lang="en-US" altLang="ja-JP" sz="2000" dirty="0">
                <a:solidFill>
                  <a:srgbClr val="FFC000"/>
                </a:solidFill>
              </a:rPr>
              <a:t>Quad</a:t>
            </a:r>
            <a:r>
              <a:rPr lang="ja-JP" altLang="en-US" sz="2000" dirty="0">
                <a:solidFill>
                  <a:srgbClr val="FFC000"/>
                </a:solidFill>
              </a:rPr>
              <a:t> </a:t>
            </a:r>
            <a:endParaRPr lang="en-US" altLang="ja-JP" sz="20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000" dirty="0">
                <a:solidFill>
                  <a:srgbClr val="FFC000"/>
                </a:solidFill>
              </a:rPr>
              <a:t>は </a:t>
            </a:r>
            <a:r>
              <a:rPr lang="en-US" altLang="ja-JP" sz="2000" dirty="0">
                <a:solidFill>
                  <a:srgbClr val="FFC000"/>
                </a:solidFill>
              </a:rPr>
              <a:t>(0, 0, -1)  </a:t>
            </a:r>
            <a:r>
              <a:rPr lang="ja-JP" altLang="en-US" sz="2000" dirty="0">
                <a:solidFill>
                  <a:srgbClr val="FFC000"/>
                </a:solidFill>
              </a:rPr>
              <a:t>だから、何も表示されない真っ黒に！</a:t>
            </a:r>
            <a:endParaRPr lang="en-US" altLang="ja-JP" sz="20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altLang="ja-JP" sz="20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000" dirty="0">
                <a:solidFill>
                  <a:srgbClr val="FFC000"/>
                </a:solidFill>
              </a:rPr>
              <a:t>　次に、</a:t>
            </a:r>
            <a:r>
              <a:rPr lang="en-US" altLang="ja-JP" sz="2000" dirty="0">
                <a:solidFill>
                  <a:srgbClr val="FFC000"/>
                </a:solidFill>
              </a:rPr>
              <a:t> Quad</a:t>
            </a:r>
            <a:r>
              <a:rPr lang="ja-JP" altLang="en-US" sz="2000" dirty="0">
                <a:solidFill>
                  <a:srgbClr val="FFC000"/>
                </a:solidFill>
              </a:rPr>
              <a:t> を回転してみましょう。右上の画像のように、緑になったり、赤になった</a:t>
            </a:r>
            <a:endParaRPr lang="en-US" altLang="ja-JP" sz="20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000" dirty="0">
                <a:solidFill>
                  <a:srgbClr val="FFC000"/>
                </a:solidFill>
              </a:rPr>
              <a:t>りすると思います。</a:t>
            </a:r>
            <a:endParaRPr lang="en-US" altLang="ja-JP" sz="2000" dirty="0">
              <a:solidFill>
                <a:srgbClr val="FFC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FA1A3B8-9C30-FD61-E945-4AEB9F16C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067" y="818148"/>
            <a:ext cx="4114800" cy="19526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2FA22C7-632D-FFB8-288C-F5C872F72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134" y="818148"/>
            <a:ext cx="2853449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806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96BC0-570C-6BAC-7904-7B0175D28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FB66F9-E72B-CBB6-FDE8-BD827CFAA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182246"/>
            <a:ext cx="2001253" cy="635902"/>
          </a:xfrm>
        </p:spPr>
        <p:txBody>
          <a:bodyPr>
            <a:noAutofit/>
          </a:bodyPr>
          <a:lstStyle/>
          <a:p>
            <a:r>
              <a:rPr lang="en-US" altLang="zh-CN" sz="36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Lesson 1</a:t>
            </a:r>
            <a:endParaRPr lang="zh-CN" altLang="en-US" sz="3600" dirty="0">
              <a:solidFill>
                <a:srgbClr val="FFC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3EF461-5310-6D9E-61F5-8D3132DD6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65813"/>
            <a:ext cx="10515600" cy="288187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ja-JP" altLang="en-US" sz="1800" dirty="0">
                <a:solidFill>
                  <a:srgbClr val="FFC000"/>
                </a:solidFill>
              </a:rPr>
              <a:t>　ピクセルシェーダーで使っている</a:t>
            </a:r>
            <a:r>
              <a:rPr lang="en-US" altLang="ja-JP" sz="1800" dirty="0">
                <a:solidFill>
                  <a:srgbClr val="FFC000"/>
                </a:solidFill>
              </a:rPr>
              <a:t>World space </a:t>
            </a:r>
            <a:r>
              <a:rPr lang="ja-JP" altLang="en-US" sz="1800" dirty="0">
                <a:solidFill>
                  <a:srgbClr val="FFC000"/>
                </a:solidFill>
              </a:rPr>
              <a:t>の法線（</a:t>
            </a:r>
            <a:r>
              <a:rPr lang="en-US" altLang="ja-JP" sz="1800" dirty="0">
                <a:solidFill>
                  <a:srgbClr val="FFC000"/>
                </a:solidFill>
              </a:rPr>
              <a:t>i.normalWS</a:t>
            </a:r>
            <a:r>
              <a:rPr lang="ja-JP" altLang="en-US" sz="1800" dirty="0">
                <a:solidFill>
                  <a:srgbClr val="FFC000"/>
                </a:solidFill>
              </a:rPr>
              <a:t>）は最初からあるも</a:t>
            </a:r>
            <a:endParaRPr lang="en-US" altLang="ja-JP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1800" dirty="0">
                <a:solidFill>
                  <a:srgbClr val="FFC000"/>
                </a:solidFill>
              </a:rPr>
              <a:t>のではないです。自ら頂点シェーダーに物体空間の法線情報（</a:t>
            </a:r>
            <a:r>
              <a:rPr lang="en-US" altLang="ja-JP" sz="1800" dirty="0">
                <a:solidFill>
                  <a:srgbClr val="FFC000"/>
                </a:solidFill>
              </a:rPr>
              <a:t>normalOS</a:t>
            </a:r>
            <a:r>
              <a:rPr lang="ja-JP" altLang="en-US" sz="1800" dirty="0">
                <a:solidFill>
                  <a:srgbClr val="FFC000"/>
                </a:solidFill>
              </a:rPr>
              <a:t>）を取得して、行</a:t>
            </a:r>
            <a:endParaRPr lang="en-US" altLang="ja-JP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1800" dirty="0">
                <a:solidFill>
                  <a:srgbClr val="FFC000"/>
                </a:solidFill>
              </a:rPr>
              <a:t>列変換を行う必要があります。</a:t>
            </a:r>
            <a:endParaRPr lang="en-US" altLang="ja-JP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1800" dirty="0">
                <a:solidFill>
                  <a:srgbClr val="FFC000"/>
                </a:solidFill>
              </a:rPr>
              <a:t>　</a:t>
            </a:r>
            <a:r>
              <a:rPr lang="en-US" altLang="ja-JP" sz="1800" dirty="0">
                <a:solidFill>
                  <a:srgbClr val="FFC000"/>
                </a:solidFill>
              </a:rPr>
              <a:t> normalOS</a:t>
            </a:r>
            <a:r>
              <a:rPr lang="ja-JP" altLang="en-US" sz="1800" dirty="0">
                <a:solidFill>
                  <a:srgbClr val="FFC000"/>
                </a:solidFill>
              </a:rPr>
              <a:t> の後ろについている </a:t>
            </a:r>
            <a:r>
              <a:rPr lang="en-US" altLang="ja-JP" sz="1800" dirty="0">
                <a:solidFill>
                  <a:srgbClr val="FFC000"/>
                </a:solidFill>
              </a:rPr>
              <a:t>: NORMAL </a:t>
            </a:r>
            <a:r>
              <a:rPr lang="ja-JP" altLang="en-US" sz="1800" dirty="0">
                <a:solidFill>
                  <a:srgbClr val="FFC000"/>
                </a:solidFill>
              </a:rPr>
              <a:t>は、「セマンティック」というもので、</a:t>
            </a:r>
            <a:r>
              <a:rPr lang="en-US" altLang="ja-JP" sz="1800" dirty="0">
                <a:solidFill>
                  <a:srgbClr val="FFC000"/>
                </a:solidFill>
              </a:rPr>
              <a:t>GPU</a:t>
            </a:r>
            <a:r>
              <a:rPr lang="ja-JP" altLang="en-US" sz="1800" dirty="0">
                <a:solidFill>
                  <a:srgbClr val="FFC000"/>
                </a:solidFill>
              </a:rPr>
              <a:t>に「ここに</a:t>
            </a:r>
            <a:endParaRPr lang="en-US" altLang="ja-JP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1800" dirty="0">
                <a:solidFill>
                  <a:srgbClr val="FFC000"/>
                </a:solidFill>
              </a:rPr>
              <a:t>頂点のこのデータが入るよ！」って教えるためのものです。</a:t>
            </a:r>
            <a:r>
              <a:rPr lang="en-US" altLang="ja-JP" sz="1800" dirty="0">
                <a:solidFill>
                  <a:srgbClr val="FFC000"/>
                </a:solidFill>
              </a:rPr>
              <a:t>Unity</a:t>
            </a:r>
            <a:r>
              <a:rPr lang="ja-JP" altLang="en-US" sz="1800" dirty="0">
                <a:solidFill>
                  <a:srgbClr val="FFC000"/>
                </a:solidFill>
              </a:rPr>
              <a:t>では、</a:t>
            </a:r>
            <a:r>
              <a:rPr lang="en-US" altLang="ja-JP" sz="1800" dirty="0">
                <a:solidFill>
                  <a:srgbClr val="FFC000"/>
                </a:solidFill>
              </a:rPr>
              <a:t>: NORMAL </a:t>
            </a:r>
            <a:r>
              <a:rPr lang="ja-JP" altLang="en-US" sz="1800" dirty="0">
                <a:solidFill>
                  <a:srgbClr val="FFC000"/>
                </a:solidFill>
              </a:rPr>
              <a:t>だけで法線情報を</a:t>
            </a:r>
            <a:endParaRPr lang="en-US" altLang="ja-JP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1800" dirty="0">
                <a:solidFill>
                  <a:srgbClr val="FFC000"/>
                </a:solidFill>
              </a:rPr>
              <a:t>取得できますが、自作ゲームではこれを自分で計算して、</a:t>
            </a:r>
            <a:r>
              <a:rPr lang="en-US" altLang="ja-JP" sz="1800" dirty="0">
                <a:solidFill>
                  <a:srgbClr val="FFC000"/>
                </a:solidFill>
              </a:rPr>
              <a:t> InputLayout</a:t>
            </a:r>
            <a:r>
              <a:rPr lang="ja-JP" altLang="en-US" sz="1800" dirty="0">
                <a:solidFill>
                  <a:srgbClr val="FFC000"/>
                </a:solidFill>
              </a:rPr>
              <a:t>に設定する必要があります！</a:t>
            </a:r>
            <a:endParaRPr lang="en-US" altLang="ja-JP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altLang="ja-JP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1800" dirty="0">
                <a:solidFill>
                  <a:srgbClr val="FFC000"/>
                </a:solidFill>
              </a:rPr>
              <a:t>　詳細は割愛しますが、</a:t>
            </a:r>
            <a:r>
              <a:rPr lang="en-US" altLang="ja-JP" sz="1800" dirty="0">
                <a:solidFill>
                  <a:srgbClr val="FFC000"/>
                </a:solidFill>
              </a:rPr>
              <a:t>Sonolux</a:t>
            </a:r>
            <a:r>
              <a:rPr lang="ja-JP" altLang="en-US" sz="1800" dirty="0">
                <a:solidFill>
                  <a:srgbClr val="FFC000"/>
                </a:solidFill>
              </a:rPr>
              <a:t>に実装したいけど「いっちょんわからん」ってなったら声かけてください</a:t>
            </a:r>
            <a:endParaRPr lang="en-US" altLang="ja-JP" sz="2000" dirty="0">
              <a:solidFill>
                <a:srgbClr val="FFC0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A36B5E7-5100-474D-0A48-4C97C438D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24" y="818148"/>
            <a:ext cx="6248400" cy="11144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58B51C9-F7EF-2935-3B04-EEEDE5FCF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146" y="818148"/>
            <a:ext cx="4095750" cy="143827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6D273A5-0AE7-E505-991D-3A2C4B354AD7}"/>
              </a:ext>
            </a:extLst>
          </p:cNvPr>
          <p:cNvSpPr txBox="1"/>
          <p:nvPr/>
        </p:nvSpPr>
        <p:spPr>
          <a:xfrm>
            <a:off x="972539" y="1932573"/>
            <a:ext cx="5363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600" dirty="0">
                <a:solidFill>
                  <a:srgbClr val="92D050"/>
                </a:solidFill>
              </a:rPr>
              <a:t>頂点シェーダの入力データ（</a:t>
            </a:r>
            <a:r>
              <a:rPr lang="en-US" altLang="ja-JP" sz="1600" dirty="0">
                <a:solidFill>
                  <a:srgbClr val="92D050"/>
                </a:solidFill>
              </a:rPr>
              <a:t>InputLayout</a:t>
            </a:r>
            <a:r>
              <a:rPr lang="ja-JP" altLang="en-US" sz="1600" dirty="0">
                <a:solidFill>
                  <a:srgbClr val="92D050"/>
                </a:solidFill>
              </a:rPr>
              <a:t>のあれです！</a:t>
            </a:r>
            <a:r>
              <a:rPr lang="ja-JP" altLang="en-US" dirty="0">
                <a:solidFill>
                  <a:srgbClr val="92D050"/>
                </a:solidFill>
              </a:rPr>
              <a:t>）</a:t>
            </a:r>
            <a:endParaRPr lang="zh-CN" altLang="en-US" dirty="0">
              <a:solidFill>
                <a:srgbClr val="92D05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11A1D29-99BF-5EAE-04A2-886347BE0FD3}"/>
              </a:ext>
            </a:extLst>
          </p:cNvPr>
          <p:cNvSpPr txBox="1"/>
          <p:nvPr/>
        </p:nvSpPr>
        <p:spPr>
          <a:xfrm>
            <a:off x="8604135" y="2256423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600" dirty="0">
                <a:solidFill>
                  <a:srgbClr val="92D050"/>
                </a:solidFill>
              </a:rPr>
              <a:t>頂点シェーダ</a:t>
            </a:r>
            <a:endParaRPr lang="en-US" altLang="ja-JP" sz="1600" dirty="0">
              <a:solidFill>
                <a:srgbClr val="92D050"/>
              </a:solidFill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F1B3ED4-4152-C823-D4E0-0870611015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24" y="2295024"/>
            <a:ext cx="7219950" cy="109537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405DC05-A0C9-BE76-074B-E2A3D6D58EF3}"/>
              </a:ext>
            </a:extLst>
          </p:cNvPr>
          <p:cNvSpPr txBox="1"/>
          <p:nvPr/>
        </p:nvSpPr>
        <p:spPr>
          <a:xfrm>
            <a:off x="2611675" y="3390399"/>
            <a:ext cx="3057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600" dirty="0">
                <a:solidFill>
                  <a:srgbClr val="92D050"/>
                </a:solidFill>
              </a:rPr>
              <a:t>ピクセルシェーダの入力データ</a:t>
            </a:r>
            <a:endParaRPr lang="zh-CN" altLang="en-US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882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94EDC-5324-3C6E-B670-D42481F21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AE14A2-3FDE-B326-C34B-F80135D6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182246"/>
            <a:ext cx="2001253" cy="635902"/>
          </a:xfrm>
        </p:spPr>
        <p:txBody>
          <a:bodyPr>
            <a:noAutofit/>
          </a:bodyPr>
          <a:lstStyle/>
          <a:p>
            <a:r>
              <a:rPr lang="en-US" altLang="zh-CN" sz="360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Lesson 2</a:t>
            </a:r>
            <a:endParaRPr lang="zh-CN" altLang="en-US" sz="3600" dirty="0">
              <a:solidFill>
                <a:srgbClr val="FFC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06DA8C-F47B-5B99-1311-999BFDD7C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928" y="3224463"/>
            <a:ext cx="5052461" cy="32684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000" dirty="0">
                <a:solidFill>
                  <a:srgbClr val="FFC000"/>
                </a:solidFill>
              </a:rPr>
              <a:t>　この章では、</a:t>
            </a:r>
            <a:r>
              <a:rPr lang="en-US" altLang="ja-JP" sz="2000" dirty="0">
                <a:solidFill>
                  <a:srgbClr val="FFC000"/>
                </a:solidFill>
              </a:rPr>
              <a:t>UV</a:t>
            </a:r>
            <a:r>
              <a:rPr lang="ja-JP" altLang="en-US" sz="2000" dirty="0">
                <a:solidFill>
                  <a:srgbClr val="FFC000"/>
                </a:solidFill>
              </a:rPr>
              <a:t>と法線を使って、簡単</a:t>
            </a:r>
            <a:endParaRPr lang="en-US" altLang="ja-JP" sz="20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000" dirty="0">
                <a:solidFill>
                  <a:srgbClr val="FFC000"/>
                </a:solidFill>
              </a:rPr>
              <a:t>なエッジを描画してみましょう！</a:t>
            </a:r>
            <a:endParaRPr lang="en-US" altLang="ja-JP" sz="20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000" dirty="0">
                <a:solidFill>
                  <a:srgbClr val="FFC000"/>
                </a:solidFill>
              </a:rPr>
              <a:t>　「</a:t>
            </a:r>
            <a:r>
              <a:rPr lang="en-US" altLang="ja-JP" sz="2000" dirty="0">
                <a:solidFill>
                  <a:srgbClr val="FFC000"/>
                </a:solidFill>
              </a:rPr>
              <a:t>Tutorial 2</a:t>
            </a:r>
            <a:r>
              <a:rPr lang="ja-JP" altLang="en-US" sz="2000" dirty="0">
                <a:solidFill>
                  <a:srgbClr val="FFC000"/>
                </a:solidFill>
              </a:rPr>
              <a:t>」のゲームオブジェクトを有</a:t>
            </a:r>
            <a:endParaRPr lang="en-US" altLang="ja-JP" sz="20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000" dirty="0">
                <a:solidFill>
                  <a:srgbClr val="FFC000"/>
                </a:solidFill>
              </a:rPr>
              <a:t>効化すると、上図のようなキューブが表示</a:t>
            </a:r>
            <a:endParaRPr lang="en-US" altLang="ja-JP" sz="20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000" dirty="0">
                <a:solidFill>
                  <a:srgbClr val="FFC000"/>
                </a:solidFill>
              </a:rPr>
              <a:t>されるはずです。そして、</a:t>
            </a:r>
            <a:r>
              <a:rPr lang="en-US" altLang="ja-JP" sz="2000" dirty="0">
                <a:solidFill>
                  <a:srgbClr val="FFC000"/>
                </a:solidFill>
              </a:rPr>
              <a:t>Lesson_2.shader</a:t>
            </a:r>
          </a:p>
          <a:p>
            <a:pPr marL="0" indent="0">
              <a:buNone/>
            </a:pPr>
            <a:r>
              <a:rPr lang="ja-JP" altLang="en-US" sz="2000" dirty="0">
                <a:solidFill>
                  <a:srgbClr val="FFC000"/>
                </a:solidFill>
              </a:rPr>
              <a:t>のピクセルシェーダは右の図のようになっ</a:t>
            </a:r>
            <a:endParaRPr lang="en-US" altLang="ja-JP" sz="20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000" dirty="0">
                <a:solidFill>
                  <a:srgbClr val="FFC000"/>
                </a:solidFill>
              </a:rPr>
              <a:t>ています。</a:t>
            </a:r>
            <a:endParaRPr lang="en-US" altLang="ja-JP" sz="20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000" dirty="0">
                <a:solidFill>
                  <a:srgbClr val="FFC000"/>
                </a:solidFill>
              </a:rPr>
              <a:t>　</a:t>
            </a:r>
            <a:endParaRPr lang="en-US" altLang="ja-JP" sz="2000" dirty="0">
              <a:solidFill>
                <a:srgbClr val="FFC000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94014AB-D36E-C280-B002-8D61FE150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378" y="818148"/>
            <a:ext cx="2395487" cy="227014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1A8335A-9227-A1EF-0186-569C9814A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2390" y="818148"/>
            <a:ext cx="6164178" cy="496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294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35E03-AF6D-931A-E300-63E9E5C3B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305DAA-41B3-A891-3374-C75BBD0F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182246"/>
            <a:ext cx="2001253" cy="635902"/>
          </a:xfrm>
        </p:spPr>
        <p:txBody>
          <a:bodyPr>
            <a:noAutofit/>
          </a:bodyPr>
          <a:lstStyle/>
          <a:p>
            <a:r>
              <a:rPr lang="en-US" altLang="zh-CN" sz="36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Lesson 2</a:t>
            </a:r>
            <a:endParaRPr lang="zh-CN" altLang="en-US" sz="3600" dirty="0">
              <a:solidFill>
                <a:srgbClr val="FFC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57B985-EB35-09EB-DFE6-4E7B9CA0B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23123"/>
            <a:ext cx="10515600" cy="7579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ja-JP" altLang="en-US" sz="2000" dirty="0">
                <a:solidFill>
                  <a:srgbClr val="FFC000"/>
                </a:solidFill>
              </a:rPr>
              <a:t>　次に、右図のように一部のコメントを外すと、左図のようなエッジがキューブの各面に</a:t>
            </a:r>
            <a:endParaRPr lang="en-US" altLang="ja-JP" sz="20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000" dirty="0">
                <a:solidFill>
                  <a:srgbClr val="FFC000"/>
                </a:solidFill>
              </a:rPr>
              <a:t>表示されるはずです。その原理は下のようになっています。</a:t>
            </a:r>
            <a:endParaRPr lang="en-US" altLang="ja-JP" sz="2000" dirty="0">
              <a:solidFill>
                <a:srgbClr val="FFC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789A9FC-8B12-B361-A3B8-36523E1C8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982" y="693020"/>
            <a:ext cx="4733925" cy="24765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E211D78-56F6-BA92-C5B3-3445600C8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5093" y="693020"/>
            <a:ext cx="2476500" cy="24765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0148537F-EDB7-2C0B-4194-BDCBCD800C35}"/>
              </a:ext>
            </a:extLst>
          </p:cNvPr>
          <p:cNvSpPr/>
          <p:nvPr/>
        </p:nvSpPr>
        <p:spPr>
          <a:xfrm>
            <a:off x="4958520" y="4398868"/>
            <a:ext cx="2182600" cy="2110969"/>
          </a:xfrm>
          <a:prstGeom prst="rect">
            <a:avLst/>
          </a:prstGeom>
          <a:solidFill>
            <a:schemeClr val="tx1"/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666ABF4-7910-2BCF-B926-FCF493D5AF8D}"/>
              </a:ext>
            </a:extLst>
          </p:cNvPr>
          <p:cNvCxnSpPr/>
          <p:nvPr/>
        </p:nvCxnSpPr>
        <p:spPr>
          <a:xfrm flipV="1">
            <a:off x="4883217" y="3953164"/>
            <a:ext cx="0" cy="263292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9DF0EA5-ABAF-8924-9156-70BB110923BA}"/>
              </a:ext>
            </a:extLst>
          </p:cNvPr>
          <p:cNvCxnSpPr>
            <a:cxnSpLocks/>
          </p:cNvCxnSpPr>
          <p:nvPr/>
        </p:nvCxnSpPr>
        <p:spPr>
          <a:xfrm>
            <a:off x="4883217" y="6586088"/>
            <a:ext cx="2658274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87C3B47F-6F4C-F85D-786C-79AE93F700F2}"/>
              </a:ext>
            </a:extLst>
          </p:cNvPr>
          <p:cNvSpPr txBox="1"/>
          <p:nvPr/>
        </p:nvSpPr>
        <p:spPr>
          <a:xfrm>
            <a:off x="7541491" y="632517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</a:rPr>
              <a:t>u</a:t>
            </a:r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F294164-1415-8CEC-1EF0-60C6E8C0C46A}"/>
              </a:ext>
            </a:extLst>
          </p:cNvPr>
          <p:cNvSpPr txBox="1"/>
          <p:nvPr/>
        </p:nvSpPr>
        <p:spPr>
          <a:xfrm>
            <a:off x="4575559" y="3923161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C000"/>
                </a:solidFill>
              </a:rPr>
              <a:t>v</a:t>
            </a:r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35A8FEF-51A4-A5F1-2BD6-FD4FBEB2735A}"/>
              </a:ext>
            </a:extLst>
          </p:cNvPr>
          <p:cNvSpPr txBox="1"/>
          <p:nvPr/>
        </p:nvSpPr>
        <p:spPr>
          <a:xfrm>
            <a:off x="4469321" y="4157364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C000"/>
                </a:solidFill>
              </a:rPr>
              <a:t>1.0</a:t>
            </a:r>
            <a:endParaRPr lang="zh-CN" altLang="en-US" sz="1400" dirty="0">
              <a:solidFill>
                <a:srgbClr val="FFC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D85F0F4-7627-2889-B9FA-8C80478051E1}"/>
              </a:ext>
            </a:extLst>
          </p:cNvPr>
          <p:cNvSpPr txBox="1"/>
          <p:nvPr/>
        </p:nvSpPr>
        <p:spPr>
          <a:xfrm>
            <a:off x="6956186" y="6540614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C000"/>
                </a:solidFill>
              </a:rPr>
              <a:t>1.0</a:t>
            </a:r>
            <a:endParaRPr lang="zh-CN" altLang="en-US" sz="1400" dirty="0">
              <a:solidFill>
                <a:srgbClr val="FFC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2E9E8B1-9786-5199-0DEB-462959FE42D2}"/>
              </a:ext>
            </a:extLst>
          </p:cNvPr>
          <p:cNvSpPr txBox="1"/>
          <p:nvPr/>
        </p:nvSpPr>
        <p:spPr>
          <a:xfrm>
            <a:off x="4351482" y="6508450"/>
            <a:ext cx="5693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C000"/>
                </a:solidFill>
              </a:rPr>
              <a:t>(0, 0)</a:t>
            </a:r>
            <a:endParaRPr lang="zh-CN" altLang="en-US" sz="1400" dirty="0">
              <a:solidFill>
                <a:srgbClr val="FFC000"/>
              </a:solidFill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229E51B1-E784-CE08-4F6F-4EA04B324CAF}"/>
              </a:ext>
            </a:extLst>
          </p:cNvPr>
          <p:cNvCxnSpPr>
            <a:cxnSpLocks/>
          </p:cNvCxnSpPr>
          <p:nvPr/>
        </p:nvCxnSpPr>
        <p:spPr>
          <a:xfrm>
            <a:off x="7314666" y="4334214"/>
            <a:ext cx="0" cy="13092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A562C4AC-4F64-C879-F87F-64AF6BBC8260}"/>
              </a:ext>
            </a:extLst>
          </p:cNvPr>
          <p:cNvSpPr txBox="1"/>
          <p:nvPr/>
        </p:nvSpPr>
        <p:spPr>
          <a:xfrm>
            <a:off x="7370082" y="4235151"/>
            <a:ext cx="1314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C000"/>
                </a:solidFill>
              </a:rPr>
              <a:t>edgeThickness</a:t>
            </a:r>
            <a:endParaRPr lang="zh-CN" altLang="en-US" sz="14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594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CCD6D-3BB7-AC6F-C999-79244513C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1408C-3FA3-D78D-A68C-4DCCEB27F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182246"/>
            <a:ext cx="2001253" cy="635902"/>
          </a:xfrm>
        </p:spPr>
        <p:txBody>
          <a:bodyPr>
            <a:noAutofit/>
          </a:bodyPr>
          <a:lstStyle/>
          <a:p>
            <a:r>
              <a:rPr lang="en-US" altLang="zh-CN" sz="36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Lesson 2</a:t>
            </a:r>
            <a:endParaRPr lang="zh-CN" altLang="en-US" sz="3600" dirty="0">
              <a:solidFill>
                <a:srgbClr val="FFC000"/>
              </a:solidFill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02C89B4-5EF4-9E17-65F3-67CF3658EC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323122"/>
                <a:ext cx="10515600" cy="335263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ja-JP" altLang="en-US" sz="1800" dirty="0">
                    <a:solidFill>
                      <a:srgbClr val="FFC000"/>
                    </a:solidFill>
                  </a:rPr>
                  <a:t>　最後に、長いコメントの下のコードもコメントから外すと、左図のように上の面だけエッジが消え</a:t>
                </a:r>
                <a:endParaRPr lang="en-US" altLang="ja-JP" sz="1800" dirty="0">
                  <a:solidFill>
                    <a:srgbClr val="FFC000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sz="1800" dirty="0">
                    <a:solidFill>
                      <a:srgbClr val="FFC000"/>
                    </a:solidFill>
                  </a:rPr>
                  <a:t>ます。そして、キューブを回転してみると、面が上向きになるとエッジが消えます。</a:t>
                </a:r>
                <a:endParaRPr lang="en-US" altLang="ja-JP" sz="1800" dirty="0">
                  <a:solidFill>
                    <a:srgbClr val="FFC000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sz="1800" dirty="0">
                    <a:solidFill>
                      <a:srgbClr val="FFC000"/>
                    </a:solidFill>
                  </a:rPr>
                  <a:t>　その原因は、正規化後の法線ベクトルと</a:t>
                </a:r>
                <a:r>
                  <a:rPr lang="en-US" altLang="ja-JP" sz="1800" dirty="0">
                    <a:solidFill>
                      <a:srgbClr val="FFC000"/>
                    </a:solidFill>
                  </a:rPr>
                  <a:t>Y</a:t>
                </a:r>
                <a:r>
                  <a:rPr lang="ja-JP" altLang="en-US" sz="1800" dirty="0">
                    <a:solidFill>
                      <a:srgbClr val="FFC000"/>
                    </a:solidFill>
                  </a:rPr>
                  <a:t>軸の単位ベクトルとの内積を求めることで、</a:t>
                </a:r>
                <a:r>
                  <a:rPr lang="en-US" altLang="ja-JP" sz="1800" dirty="0">
                    <a:solidFill>
                      <a:srgbClr val="FFC000"/>
                    </a:solidFill>
                  </a:rPr>
                  <a:t>Y</a:t>
                </a:r>
                <a:r>
                  <a:rPr lang="ja-JP" altLang="en-US" sz="1800" dirty="0">
                    <a:solidFill>
                      <a:srgbClr val="FFC000"/>
                    </a:solidFill>
                  </a:rPr>
                  <a:t>軸上の投影</a:t>
                </a:r>
                <a:endParaRPr lang="en-US" altLang="ja-JP" sz="1800" dirty="0">
                  <a:solidFill>
                    <a:srgbClr val="FFC000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sz="1800" dirty="0">
                    <a:solidFill>
                      <a:srgbClr val="FFC000"/>
                    </a:solidFill>
                  </a:rPr>
                  <a:t>の長さが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ja-JP" altLang="en-US" sz="180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ja-JP" altLang="en-US" sz="180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18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US" altLang="ja-JP" sz="18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ja-JP" altLang="en-US" sz="1800" dirty="0">
                    <a:solidFill>
                      <a:srgbClr val="FFC000"/>
                    </a:solidFill>
                  </a:rPr>
                  <a:t>（</a:t>
                </a:r>
                <a14:m>
                  <m:oMath xmlns:m="http://schemas.openxmlformats.org/officeDocument/2006/math">
                    <m:r>
                      <a:rPr lang="ja-JP" altLang="en-US" sz="1800" i="1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ja-JP" sz="1800" b="0" i="1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0.7071067</m:t>
                    </m:r>
                  </m:oMath>
                </a14:m>
                <a:r>
                  <a:rPr lang="ja-JP" altLang="en-US" sz="1800" dirty="0">
                    <a:solidFill>
                      <a:srgbClr val="FFC000"/>
                    </a:solidFill>
                  </a:rPr>
                  <a:t>）よりも短くなったからです。</a:t>
                </a:r>
                <a:endParaRPr lang="en-US" altLang="ja-JP" sz="1800" dirty="0">
                  <a:solidFill>
                    <a:srgbClr val="FFC000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sz="1800" dirty="0">
                    <a:solidFill>
                      <a:srgbClr val="FFC000"/>
                    </a:solidFill>
                  </a:rPr>
                  <a:t>　　</a:t>
                </a:r>
                <a:endParaRPr lang="en-US" altLang="ja-JP" sz="1800" dirty="0">
                  <a:solidFill>
                    <a:srgbClr val="FFC000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sz="1800" dirty="0">
                    <a:solidFill>
                      <a:srgbClr val="FFC000"/>
                    </a:solidFill>
                  </a:rPr>
                  <a:t>　　余談ですが、</a:t>
                </a:r>
                <a:r>
                  <a:rPr lang="en-US" altLang="ja-JP" sz="1800" dirty="0">
                    <a:solidFill>
                      <a:srgbClr val="FFC000"/>
                    </a:solidFill>
                  </a:rPr>
                  <a:t>GDBC</a:t>
                </a:r>
                <a:r>
                  <a:rPr lang="ja-JP" altLang="en-US" sz="1800" dirty="0">
                    <a:solidFill>
                      <a:srgbClr val="FFC000"/>
                    </a:solidFill>
                  </a:rPr>
                  <a:t>で波紋を上の面にだけ表示させ、</a:t>
                </a:r>
                <a:endParaRPr lang="en-US" altLang="ja-JP" sz="1800" dirty="0">
                  <a:solidFill>
                    <a:srgbClr val="FFC000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sz="1800" dirty="0">
                    <a:solidFill>
                      <a:srgbClr val="FFC000"/>
                    </a:solidFill>
                  </a:rPr>
                  <a:t>　　かつ、床が回転するかもしれない仕様に対応するために</a:t>
                </a:r>
                <a:endParaRPr lang="en-US" altLang="ja-JP" sz="1800" dirty="0">
                  <a:solidFill>
                    <a:srgbClr val="FFC000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sz="1800" dirty="0">
                    <a:solidFill>
                      <a:srgbClr val="FFC000"/>
                    </a:solidFill>
                  </a:rPr>
                  <a:t>　　この方法を使いました</a:t>
                </a:r>
                <a:r>
                  <a:rPr lang="en-US" altLang="ja-JP" sz="1800" dirty="0">
                    <a:solidFill>
                      <a:srgbClr val="FFC000"/>
                    </a:solidFill>
                  </a:rPr>
                  <a:t>…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02C89B4-5EF4-9E17-65F3-67CF3658EC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323122"/>
                <a:ext cx="10515600" cy="3352631"/>
              </a:xfrm>
              <a:blipFill>
                <a:blip r:embed="rId2"/>
                <a:stretch>
                  <a:fillRect l="-522" t="-1636" r="-4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F0BB14C3-DD2F-363F-F63A-DF8B3E0B7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85232"/>
            <a:ext cx="4554346" cy="248591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424AA42-0327-1A3B-04DE-C8B71DA776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9389" y="685232"/>
            <a:ext cx="2720197" cy="2483989"/>
          </a:xfrm>
          <a:prstGeom prst="rect">
            <a:avLst/>
          </a:prstGeom>
        </p:spPr>
      </p:pic>
      <p:grpSp>
        <p:nvGrpSpPr>
          <p:cNvPr id="41" name="组合 40">
            <a:extLst>
              <a:ext uri="{FF2B5EF4-FFF2-40B4-BE49-F238E27FC236}">
                <a16:creationId xmlns:a16="http://schemas.microsoft.com/office/drawing/2014/main" id="{AB42C6F3-E7E6-023B-BD9C-C32FBD1406DA}"/>
              </a:ext>
            </a:extLst>
          </p:cNvPr>
          <p:cNvGrpSpPr/>
          <p:nvPr/>
        </p:nvGrpSpPr>
        <p:grpSpPr>
          <a:xfrm>
            <a:off x="7769572" y="4556426"/>
            <a:ext cx="3680075" cy="2006560"/>
            <a:chOff x="4526340" y="4787432"/>
            <a:chExt cx="3680075" cy="2006560"/>
          </a:xfrm>
        </p:grpSpPr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6D84D7C3-6418-9B8F-D85E-3057F6DE13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8276" y="4892040"/>
              <a:ext cx="0" cy="1408176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C930FDD4-2B3B-F760-3FA9-DE3C65140D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8276" y="5202936"/>
              <a:ext cx="644747" cy="1099548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EF311663-2D10-4EF9-42D3-7B98B8CF077C}"/>
                </a:ext>
              </a:extLst>
            </p:cNvPr>
            <p:cNvCxnSpPr/>
            <p:nvPr/>
          </p:nvCxnSpPr>
          <p:spPr>
            <a:xfrm>
              <a:off x="5134356" y="5806440"/>
              <a:ext cx="1737360" cy="987552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8A0B0134-AC32-B544-11DA-7C9685BC26E9}"/>
                </a:ext>
              </a:extLst>
            </p:cNvPr>
            <p:cNvCxnSpPr/>
            <p:nvPr/>
          </p:nvCxnSpPr>
          <p:spPr>
            <a:xfrm flipH="1">
              <a:off x="6018276" y="5202936"/>
              <a:ext cx="644747" cy="0"/>
            </a:xfrm>
            <a:prstGeom prst="line">
              <a:avLst/>
            </a:prstGeom>
            <a:ln>
              <a:solidFill>
                <a:srgbClr val="00B05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C3ABC739-0FC1-936D-87F6-442767EB476F}"/>
                </a:ext>
              </a:extLst>
            </p:cNvPr>
            <p:cNvSpPr txBox="1"/>
            <p:nvPr/>
          </p:nvSpPr>
          <p:spPr>
            <a:xfrm>
              <a:off x="4526340" y="6284827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>
                  <a:solidFill>
                    <a:srgbClr val="FFC000"/>
                  </a:solidFill>
                </a:rPr>
                <a:t>傾いている面</a:t>
              </a:r>
              <a:endParaRPr lang="zh-CN" altLang="en-US" dirty="0">
                <a:solidFill>
                  <a:srgbClr val="FFC000"/>
                </a:solidFill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EC283C14-F3AB-EEFA-878B-1AB19C2F580E}"/>
                </a:ext>
              </a:extLst>
            </p:cNvPr>
            <p:cNvSpPr txBox="1"/>
            <p:nvPr/>
          </p:nvSpPr>
          <p:spPr>
            <a:xfrm>
              <a:off x="6340649" y="5637163"/>
              <a:ext cx="186576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600" dirty="0">
                  <a:solidFill>
                    <a:srgbClr val="00B050"/>
                  </a:solidFill>
                </a:rPr>
                <a:t>面の法線ベクトル</a:t>
              </a:r>
              <a:endParaRPr lang="en-US" altLang="ja-JP" sz="1600" dirty="0">
                <a:solidFill>
                  <a:srgbClr val="00B050"/>
                </a:solidFill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030E0134-EC91-CAE3-4830-5BA8753CC6EA}"/>
                </a:ext>
              </a:extLst>
            </p:cNvPr>
            <p:cNvSpPr txBox="1"/>
            <p:nvPr/>
          </p:nvSpPr>
          <p:spPr>
            <a:xfrm>
              <a:off x="6048840" y="4787432"/>
              <a:ext cx="20255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600" dirty="0">
                  <a:solidFill>
                    <a:schemeClr val="bg1"/>
                  </a:solidFill>
                </a:rPr>
                <a:t>Y</a:t>
              </a:r>
              <a:r>
                <a:rPr lang="ja-JP" altLang="en-US" sz="1600" dirty="0">
                  <a:solidFill>
                    <a:schemeClr val="bg1"/>
                  </a:solidFill>
                </a:rPr>
                <a:t>軸の単位ベクトル</a:t>
              </a:r>
              <a:endParaRPr lang="en-US" altLang="ja-JP" sz="1600" dirty="0">
                <a:solidFill>
                  <a:schemeClr val="bg1"/>
                </a:solidFill>
              </a:endParaRPr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F171D3E9-EF85-0958-9045-9CBEBE44D763}"/>
                </a:ext>
              </a:extLst>
            </p:cNvPr>
            <p:cNvCxnSpPr>
              <a:cxnSpLocks/>
            </p:cNvCxnSpPr>
            <p:nvPr/>
          </p:nvCxnSpPr>
          <p:spPr>
            <a:xfrm>
              <a:off x="6018276" y="5202936"/>
              <a:ext cx="0" cy="109728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466669BF-C3E7-0EF8-47AB-146FC2DC85A1}"/>
                </a:ext>
              </a:extLst>
            </p:cNvPr>
            <p:cNvSpPr txBox="1"/>
            <p:nvPr/>
          </p:nvSpPr>
          <p:spPr>
            <a:xfrm>
              <a:off x="4844032" y="5377106"/>
              <a:ext cx="125196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600" dirty="0">
                  <a:solidFill>
                    <a:srgbClr val="FF0000"/>
                  </a:solidFill>
                </a:rPr>
                <a:t>投影の長さ</a:t>
              </a:r>
              <a:endParaRPr lang="en-US" altLang="ja-JP" sz="16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43" name="图片 42" descr="卡通人物&#10;&#10;AI 生成的内容可能不正确。">
            <a:extLst>
              <a:ext uri="{FF2B5EF4-FFF2-40B4-BE49-F238E27FC236}">
                <a16:creationId xmlns:a16="http://schemas.microsoft.com/office/drawing/2014/main" id="{6EC91E32-4A71-3740-CD9F-FA5F083A64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78" y="5188723"/>
            <a:ext cx="1037843" cy="111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354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6261C-98AB-C3E5-4CA7-CF52C0B6F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3DEAA1-C7E0-E303-08E9-968C813F3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182246"/>
            <a:ext cx="2001253" cy="635902"/>
          </a:xfrm>
        </p:spPr>
        <p:txBody>
          <a:bodyPr>
            <a:noAutofit/>
          </a:bodyPr>
          <a:lstStyle/>
          <a:p>
            <a:r>
              <a:rPr lang="en-US" altLang="zh-CN" sz="36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Lesson 3</a:t>
            </a:r>
            <a:endParaRPr lang="zh-CN" altLang="en-US" sz="3600" dirty="0">
              <a:solidFill>
                <a:srgbClr val="FFC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AA1B01-6832-5008-2340-ECFE3DD87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928" y="3224463"/>
            <a:ext cx="4090937" cy="32684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1800" dirty="0">
                <a:solidFill>
                  <a:srgbClr val="FFC000"/>
                </a:solidFill>
              </a:rPr>
              <a:t>　この章では、波紋のようなものを作ってみましょう！</a:t>
            </a:r>
            <a:endParaRPr lang="en-US" altLang="ja-JP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1800" dirty="0">
                <a:solidFill>
                  <a:srgbClr val="FFC000"/>
                </a:solidFill>
              </a:rPr>
              <a:t>　「</a:t>
            </a:r>
            <a:r>
              <a:rPr lang="en-US" altLang="ja-JP" sz="1800" dirty="0">
                <a:solidFill>
                  <a:srgbClr val="FFC000"/>
                </a:solidFill>
              </a:rPr>
              <a:t>Tutorial 3</a:t>
            </a:r>
            <a:r>
              <a:rPr lang="ja-JP" altLang="en-US" sz="1800" dirty="0">
                <a:solidFill>
                  <a:srgbClr val="FFC000"/>
                </a:solidFill>
              </a:rPr>
              <a:t>」のゲームオブジェクト</a:t>
            </a:r>
            <a:endParaRPr lang="en-US" altLang="ja-JP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1800" dirty="0">
                <a:solidFill>
                  <a:srgbClr val="FFC000"/>
                </a:solidFill>
              </a:rPr>
              <a:t>には上図の </a:t>
            </a:r>
            <a:r>
              <a:rPr lang="en-US" altLang="ja-JP" sz="1800" dirty="0">
                <a:solidFill>
                  <a:srgbClr val="FFC000"/>
                </a:solidFill>
              </a:rPr>
              <a:t>Quad</a:t>
            </a:r>
            <a:r>
              <a:rPr lang="ja-JP" altLang="en-US" sz="1800" dirty="0">
                <a:solidFill>
                  <a:srgbClr val="FFC000"/>
                </a:solidFill>
              </a:rPr>
              <a:t> が入っています。</a:t>
            </a:r>
            <a:endParaRPr lang="en-US" altLang="ja-JP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1800" dirty="0">
                <a:solidFill>
                  <a:srgbClr val="FFC000"/>
                </a:solidFill>
              </a:rPr>
              <a:t>　そして、</a:t>
            </a:r>
            <a:r>
              <a:rPr lang="en-US" altLang="ja-JP" sz="1800" dirty="0">
                <a:solidFill>
                  <a:srgbClr val="FFC000"/>
                </a:solidFill>
              </a:rPr>
              <a:t>Lesson_3.shader</a:t>
            </a:r>
            <a:r>
              <a:rPr lang="ja-JP" altLang="en-US" sz="1800" dirty="0">
                <a:solidFill>
                  <a:srgbClr val="FFC000"/>
                </a:solidFill>
              </a:rPr>
              <a:t>のピクセル</a:t>
            </a:r>
            <a:endParaRPr lang="en-US" altLang="ja-JP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1800" dirty="0">
                <a:solidFill>
                  <a:srgbClr val="FFC000"/>
                </a:solidFill>
              </a:rPr>
              <a:t>シェーダは右の図のようになっていま</a:t>
            </a:r>
            <a:endParaRPr lang="en-US" altLang="ja-JP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1800" dirty="0">
                <a:solidFill>
                  <a:srgbClr val="FFC000"/>
                </a:solidFill>
              </a:rPr>
              <a:t>す。</a:t>
            </a:r>
            <a:endParaRPr lang="en-US" altLang="ja-JP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2000" dirty="0">
                <a:solidFill>
                  <a:srgbClr val="FFC000"/>
                </a:solidFill>
              </a:rPr>
              <a:t>　</a:t>
            </a:r>
            <a:endParaRPr lang="en-US" altLang="ja-JP" sz="2000" dirty="0">
              <a:solidFill>
                <a:srgbClr val="FFC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DBEEF32-CE7D-AA7C-B0D7-F06E60D6C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865" y="818148"/>
            <a:ext cx="7241207" cy="425849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FE2B54C-FE8A-60B3-A175-39A2BC4E5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201" y="818148"/>
            <a:ext cx="2259783" cy="206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873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5A835-165A-A0E1-B686-493BDE57F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46C30F-7E44-6142-095B-66FFF1922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182246"/>
            <a:ext cx="2001253" cy="635902"/>
          </a:xfrm>
        </p:spPr>
        <p:txBody>
          <a:bodyPr>
            <a:noAutofit/>
          </a:bodyPr>
          <a:lstStyle/>
          <a:p>
            <a:r>
              <a:rPr lang="en-US" altLang="zh-CN" sz="36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Lesson 3</a:t>
            </a:r>
            <a:endParaRPr lang="zh-CN" altLang="en-US" sz="3600" dirty="0">
              <a:solidFill>
                <a:srgbClr val="FFC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ECC61D-DDDC-89B8-7D7F-89808D594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928" y="3224463"/>
            <a:ext cx="11235891" cy="15555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1800" dirty="0">
                <a:solidFill>
                  <a:srgbClr val="FFC000"/>
                </a:solidFill>
              </a:rPr>
              <a:t>　今回は円を描画するため、通常の</a:t>
            </a:r>
            <a:r>
              <a:rPr lang="en-US" altLang="ja-JP" sz="1800" dirty="0">
                <a:solidFill>
                  <a:srgbClr val="FFC000"/>
                </a:solidFill>
              </a:rPr>
              <a:t>UV</a:t>
            </a:r>
            <a:r>
              <a:rPr lang="ja-JP" altLang="en-US" sz="1800" dirty="0">
                <a:solidFill>
                  <a:srgbClr val="FFC000"/>
                </a:solidFill>
              </a:rPr>
              <a:t>空間ではなく、</a:t>
            </a:r>
            <a:r>
              <a:rPr lang="en-US" altLang="ja-JP" sz="1800" dirty="0">
                <a:solidFill>
                  <a:srgbClr val="FFC000"/>
                </a:solidFill>
              </a:rPr>
              <a:t>NDC</a:t>
            </a:r>
            <a:r>
              <a:rPr lang="ja-JP" altLang="en-US" sz="1800" dirty="0">
                <a:solidFill>
                  <a:srgbClr val="FFC000"/>
                </a:solidFill>
              </a:rPr>
              <a:t>に変換した座標系を使います。</a:t>
            </a:r>
            <a:endParaRPr lang="en-US" altLang="ja-JP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1800" dirty="0">
                <a:solidFill>
                  <a:srgbClr val="FFC000"/>
                </a:solidFill>
              </a:rPr>
              <a:t>　ここまでの仕組み、</a:t>
            </a:r>
            <a:r>
              <a:rPr lang="en-US" altLang="ja-JP" sz="1800" dirty="0">
                <a:solidFill>
                  <a:srgbClr val="FFC000"/>
                </a:solidFill>
              </a:rPr>
              <a:t>Sonolux</a:t>
            </a:r>
            <a:r>
              <a:rPr lang="ja-JP" altLang="en-US" sz="1800" dirty="0">
                <a:solidFill>
                  <a:srgbClr val="FFC000"/>
                </a:solidFill>
              </a:rPr>
              <a:t>の円環と同じなので、詳細を割愛します。</a:t>
            </a:r>
            <a:endParaRPr lang="en-US" altLang="ja-JP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altLang="ja-JP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1800" dirty="0">
                <a:solidFill>
                  <a:srgbClr val="FFC000"/>
                </a:solidFill>
              </a:rPr>
              <a:t>　次に、</a:t>
            </a:r>
            <a:r>
              <a:rPr lang="en-US" altLang="ja-JP" sz="1800" dirty="0">
                <a:solidFill>
                  <a:srgbClr val="FFC000"/>
                </a:solidFill>
              </a:rPr>
              <a:t>HLSL</a:t>
            </a:r>
            <a:r>
              <a:rPr lang="ja-JP" altLang="en-US" sz="1800" dirty="0">
                <a:solidFill>
                  <a:srgbClr val="FFC000"/>
                </a:solidFill>
              </a:rPr>
              <a:t>の組み込み関数「</a:t>
            </a:r>
            <a:r>
              <a:rPr lang="en-US" altLang="ja-JP" sz="1800" dirty="0">
                <a:solidFill>
                  <a:srgbClr val="FFC000"/>
                </a:solidFill>
              </a:rPr>
              <a:t>smoothstep</a:t>
            </a:r>
            <a:r>
              <a:rPr lang="ja-JP" altLang="en-US" sz="1800" dirty="0">
                <a:solidFill>
                  <a:srgbClr val="FFC000"/>
                </a:solidFill>
              </a:rPr>
              <a:t>」を使ってみましょう！</a:t>
            </a:r>
            <a:endParaRPr lang="en-US" altLang="ja-JP" sz="2000" dirty="0">
              <a:solidFill>
                <a:srgbClr val="FFC000"/>
              </a:solidFill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D3F4950-F0CF-E201-F036-268392EBC934}"/>
              </a:ext>
            </a:extLst>
          </p:cNvPr>
          <p:cNvGrpSpPr/>
          <p:nvPr/>
        </p:nvGrpSpPr>
        <p:grpSpPr>
          <a:xfrm>
            <a:off x="4378268" y="479594"/>
            <a:ext cx="2871783" cy="2632253"/>
            <a:chOff x="4378268" y="479594"/>
            <a:chExt cx="2871783" cy="2632253"/>
          </a:xfrm>
        </p:grpSpPr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988ED3E5-7F21-1C62-8DD7-D1BB1F06CD9D}"/>
                </a:ext>
              </a:extLst>
            </p:cNvPr>
            <p:cNvCxnSpPr/>
            <p:nvPr/>
          </p:nvCxnSpPr>
          <p:spPr>
            <a:xfrm flipV="1">
              <a:off x="5815584" y="818148"/>
              <a:ext cx="0" cy="2181084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F117D871-B54B-7633-AE39-699F864688C5}"/>
                </a:ext>
              </a:extLst>
            </p:cNvPr>
            <p:cNvCxnSpPr>
              <a:cxnSpLocks/>
            </p:cNvCxnSpPr>
            <p:nvPr/>
          </p:nvCxnSpPr>
          <p:spPr>
            <a:xfrm>
              <a:off x="4626101" y="1965960"/>
              <a:ext cx="2378965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E53EEFC5-1BC4-C628-25ED-45B430202E88}"/>
                </a:ext>
              </a:extLst>
            </p:cNvPr>
            <p:cNvSpPr txBox="1"/>
            <p:nvPr/>
          </p:nvSpPr>
          <p:spPr>
            <a:xfrm>
              <a:off x="5693091" y="479594"/>
              <a:ext cx="2449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600" dirty="0">
                  <a:solidFill>
                    <a:schemeClr val="bg1"/>
                  </a:solidFill>
                </a:rPr>
                <a:t>v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05DF546C-12E5-1E5E-BD4B-097E9ED16E90}"/>
                </a:ext>
              </a:extLst>
            </p:cNvPr>
            <p:cNvSpPr txBox="1"/>
            <p:nvPr/>
          </p:nvSpPr>
          <p:spPr>
            <a:xfrm>
              <a:off x="7005067" y="1739413"/>
              <a:ext cx="2449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600" dirty="0">
                  <a:solidFill>
                    <a:schemeClr val="bg1"/>
                  </a:solidFill>
                </a:rPr>
                <a:t>u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AE36C7A-278F-8087-15B2-115B6AC1CB55}"/>
                </a:ext>
              </a:extLst>
            </p:cNvPr>
            <p:cNvSpPr txBox="1"/>
            <p:nvPr/>
          </p:nvSpPr>
          <p:spPr>
            <a:xfrm>
              <a:off x="5855785" y="720263"/>
              <a:ext cx="4804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400" dirty="0">
                  <a:solidFill>
                    <a:schemeClr val="bg1"/>
                  </a:solidFill>
                </a:rPr>
                <a:t>0.5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5150E46B-2E56-D924-1AA3-83EA3ADEACD4}"/>
                </a:ext>
              </a:extLst>
            </p:cNvPr>
            <p:cNvSpPr txBox="1"/>
            <p:nvPr/>
          </p:nvSpPr>
          <p:spPr>
            <a:xfrm>
              <a:off x="6714180" y="1995421"/>
              <a:ext cx="4804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400" dirty="0">
                  <a:solidFill>
                    <a:schemeClr val="bg1"/>
                  </a:solidFill>
                </a:rPr>
                <a:t>0.5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3E4AB1D-375B-3667-4377-21ABBB8E8DFB}"/>
                </a:ext>
              </a:extLst>
            </p:cNvPr>
            <p:cNvSpPr txBox="1"/>
            <p:nvPr/>
          </p:nvSpPr>
          <p:spPr>
            <a:xfrm>
              <a:off x="4378268" y="1965960"/>
              <a:ext cx="5387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400" dirty="0">
                  <a:solidFill>
                    <a:schemeClr val="bg1"/>
                  </a:solidFill>
                </a:rPr>
                <a:t>-0.5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B0A1DC6F-E93C-28B3-FD12-3C93016FCCC6}"/>
                </a:ext>
              </a:extLst>
            </p:cNvPr>
            <p:cNvSpPr txBox="1"/>
            <p:nvPr/>
          </p:nvSpPr>
          <p:spPr>
            <a:xfrm>
              <a:off x="5778512" y="2804070"/>
              <a:ext cx="5387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400" dirty="0">
                  <a:solidFill>
                    <a:schemeClr val="bg1"/>
                  </a:solidFill>
                </a:rPr>
                <a:t>-0.5</a:t>
              </a: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95A2B3C1-9825-66CC-C5FB-F92CB086F7B3}"/>
                </a:ext>
              </a:extLst>
            </p:cNvPr>
            <p:cNvSpPr/>
            <p:nvPr/>
          </p:nvSpPr>
          <p:spPr>
            <a:xfrm>
              <a:off x="4858127" y="951234"/>
              <a:ext cx="1914911" cy="1914911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28C1106-F65D-5D03-3718-BBDDCBD494AA}"/>
                  </a:ext>
                </a:extLst>
              </p:cNvPr>
              <p:cNvSpPr txBox="1"/>
              <p:nvPr/>
            </p:nvSpPr>
            <p:spPr>
              <a:xfrm>
                <a:off x="932367" y="5217927"/>
                <a:ext cx="6891801" cy="10256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Smoothstep(min, max, x) 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&gt;</m:t>
                            </m:r>
                            <m:func>
                              <m:funcPr>
                                <m:ctrlP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fName>
                              <m:e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func>
                          </m:e>
                          <m:e>
                            <m:r>
                              <a:rPr lang="en-US" altLang="zh-CN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  <m:r>
                              <a:rPr lang="en-US" altLang="zh-CN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zh-CN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</m:t>
                            </m:r>
                            <m:func>
                              <m:funcPr>
                                <m:ctrlP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min</m:t>
                                </m:r>
                              </m:fName>
                              <m:e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     </m:t>
                                </m:r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(3−2</m:t>
                                </m:r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func>
                          </m:e>
                          <m:e>
                            <m:r>
                              <a:rPr lang="en-US" altLang="zh-CN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func>
                              <m:funcPr>
                                <m:ctrlP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fName>
                              <m:e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zh-CN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func>
                          </m:e>
                        </m:eqAr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28C1106-F65D-5D03-3718-BBDDCBD49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367" y="5217927"/>
                <a:ext cx="6891801" cy="1025665"/>
              </a:xfrm>
              <a:prstGeom prst="rect">
                <a:avLst/>
              </a:prstGeom>
              <a:blipFill>
                <a:blip r:embed="rId2"/>
                <a:stretch>
                  <a:fillRect l="-2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图片 25">
            <a:extLst>
              <a:ext uri="{FF2B5EF4-FFF2-40B4-BE49-F238E27FC236}">
                <a16:creationId xmlns:a16="http://schemas.microsoft.com/office/drawing/2014/main" id="{7EEC48BE-00BF-00FE-B4F8-0342C0717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3723" y="5138352"/>
            <a:ext cx="1266825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161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A1CC7-3227-026A-F5D9-405E465E1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A341D9-FAC3-C645-0F4E-F59B78C49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182246"/>
            <a:ext cx="2001253" cy="635902"/>
          </a:xfrm>
        </p:spPr>
        <p:txBody>
          <a:bodyPr>
            <a:noAutofit/>
          </a:bodyPr>
          <a:lstStyle/>
          <a:p>
            <a:r>
              <a:rPr lang="en-US" altLang="zh-CN" sz="36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Lesson 3</a:t>
            </a:r>
            <a:endParaRPr lang="zh-CN" altLang="en-US" sz="3600" dirty="0">
              <a:solidFill>
                <a:srgbClr val="FFC000"/>
              </a:solidFill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915D02-7985-A40F-60C9-072CCDD37C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9928" y="3544503"/>
                <a:ext cx="11235891" cy="155557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ja-JP" altLang="en-US" sz="1800" dirty="0">
                    <a:solidFill>
                      <a:srgbClr val="FFC000"/>
                    </a:solidFill>
                  </a:rPr>
                  <a:t>　コードを右図のように修正すると、左のような滑らかなグラデーションの円環が描画されます。</a:t>
                </a:r>
                <a:endParaRPr lang="en-US" altLang="ja-JP" sz="1800" dirty="0">
                  <a:solidFill>
                    <a:srgbClr val="FFC000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sz="1800" dirty="0">
                    <a:solidFill>
                      <a:srgbClr val="FFC000"/>
                    </a:solidFill>
                  </a:rPr>
                  <a:t>　</a:t>
                </a:r>
                <a:r>
                  <a:rPr lang="en-US" altLang="ja-JP" sz="1800" dirty="0">
                    <a:solidFill>
                      <a:srgbClr val="FFC000"/>
                    </a:solidFill>
                  </a:rPr>
                  <a:t>smoothstep(min, max, x)</a:t>
                </a:r>
                <a:r>
                  <a:rPr lang="ja-JP" altLang="en-US" sz="1800" dirty="0">
                    <a:solidFill>
                      <a:srgbClr val="FFC000"/>
                    </a:solidFill>
                  </a:rPr>
                  <a:t> は、</a:t>
                </a:r>
                <a:r>
                  <a:rPr lang="en-US" altLang="ja-JP" sz="1800" dirty="0">
                    <a:solidFill>
                      <a:srgbClr val="FFC000"/>
                    </a:solidFill>
                  </a:rPr>
                  <a:t> x</a:t>
                </a:r>
                <a:r>
                  <a:rPr lang="ja-JP" altLang="en-US" sz="1800" dirty="0">
                    <a:solidFill>
                      <a:srgbClr val="FFC000"/>
                    </a:solidFill>
                  </a:rPr>
                  <a:t>が</a:t>
                </a:r>
                <a:r>
                  <a:rPr lang="en-US" altLang="ja-JP" sz="1800" dirty="0">
                    <a:solidFill>
                      <a:srgbClr val="FFC000"/>
                    </a:solidFill>
                  </a:rPr>
                  <a:t>min</a:t>
                </a:r>
                <a:r>
                  <a:rPr lang="ja-JP" altLang="en-US" sz="1800" dirty="0">
                    <a:solidFill>
                      <a:srgbClr val="FFC000"/>
                    </a:solidFill>
                  </a:rPr>
                  <a:t>より小さいときに</a:t>
                </a:r>
                <a:r>
                  <a:rPr lang="en-US" altLang="ja-JP" sz="1800" dirty="0">
                    <a:solidFill>
                      <a:srgbClr val="FFC000"/>
                    </a:solidFill>
                  </a:rPr>
                  <a:t>0</a:t>
                </a:r>
                <a:r>
                  <a:rPr lang="ja-JP" altLang="en-US" sz="1800" dirty="0">
                    <a:solidFill>
                      <a:srgbClr val="FFC000"/>
                    </a:solidFill>
                  </a:rPr>
                  <a:t>、</a:t>
                </a:r>
                <a:r>
                  <a:rPr lang="en-US" altLang="ja-JP" sz="1800" dirty="0">
                    <a:solidFill>
                      <a:srgbClr val="FFC000"/>
                    </a:solidFill>
                  </a:rPr>
                  <a:t> max</a:t>
                </a:r>
                <a:r>
                  <a:rPr lang="ja-JP" altLang="en-US" sz="1800" dirty="0">
                    <a:solidFill>
                      <a:srgbClr val="FFC000"/>
                    </a:solidFill>
                  </a:rPr>
                  <a:t>より大きいときに</a:t>
                </a:r>
                <a:r>
                  <a:rPr lang="en-US" altLang="ja-JP" sz="1800" dirty="0">
                    <a:solidFill>
                      <a:srgbClr val="FFC000"/>
                    </a:solidFill>
                  </a:rPr>
                  <a:t>1</a:t>
                </a:r>
                <a:r>
                  <a:rPr lang="ja-JP" altLang="en-US" sz="1800" dirty="0">
                    <a:solidFill>
                      <a:srgbClr val="FFC000"/>
                    </a:solidFill>
                  </a:rPr>
                  <a:t>、そして、</a:t>
                </a:r>
                <a:r>
                  <a:rPr lang="en-US" altLang="ja-JP" sz="1800" dirty="0">
                    <a:solidFill>
                      <a:srgbClr val="FFC000"/>
                    </a:solidFill>
                  </a:rPr>
                  <a:t>[min, max]</a:t>
                </a:r>
                <a:r>
                  <a:rPr lang="ja-JP" altLang="en-US" sz="1800" dirty="0">
                    <a:solidFill>
                      <a:srgbClr val="FFC000"/>
                    </a:solidFill>
                  </a:rPr>
                  <a:t>の</a:t>
                </a:r>
                <a:endParaRPr lang="en-US" altLang="ja-JP" sz="1800" dirty="0">
                  <a:solidFill>
                    <a:srgbClr val="FFC000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sz="1800" dirty="0">
                    <a:solidFill>
                      <a:srgbClr val="FFC000"/>
                    </a:solidFill>
                  </a:rPr>
                  <a:t>ときに、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180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18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ja-JP" sz="18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18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(3−2</m:t>
                    </m:r>
                    <m:r>
                      <a:rPr lang="en-US" altLang="ja-JP" sz="18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18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ja-JP" sz="1800" dirty="0">
                    <a:solidFill>
                      <a:srgbClr val="FFC000"/>
                    </a:solidFill>
                  </a:rPr>
                  <a:t> </a:t>
                </a:r>
                <a:r>
                  <a:rPr lang="ja-JP" altLang="en-US" sz="1800" dirty="0">
                    <a:solidFill>
                      <a:srgbClr val="FFC000"/>
                    </a:solidFill>
                  </a:rPr>
                  <a:t>の値を返す関数です。この関数は、一定区間で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1800" b="0" i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ja-JP" sz="1800" b="0" i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8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sz="1800" dirty="0">
                    <a:solidFill>
                      <a:srgbClr val="FFC000"/>
                    </a:solidFill>
                  </a:rPr>
                  <a:t> </a:t>
                </a:r>
                <a:r>
                  <a:rPr lang="ja-JP" altLang="en-US" sz="1800" dirty="0">
                    <a:solidFill>
                      <a:srgbClr val="FFC000"/>
                    </a:solidFill>
                  </a:rPr>
                  <a:t>のような線形変化をスムーズな非</a:t>
                </a:r>
                <a:endParaRPr lang="en-US" altLang="ja-JP" sz="1800" dirty="0">
                  <a:solidFill>
                    <a:srgbClr val="FFC000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sz="1800" dirty="0">
                    <a:solidFill>
                      <a:srgbClr val="FFC000"/>
                    </a:solidFill>
                  </a:rPr>
                  <a:t>線形変化に変えることができます。</a:t>
                </a:r>
                <a:r>
                  <a:rPr lang="en-US" altLang="ja-JP" sz="1800" dirty="0">
                    <a:solidFill>
                      <a:srgbClr val="FFC000"/>
                    </a:solidFill>
                  </a:rPr>
                  <a:t>Hermite Interpolation</a:t>
                </a:r>
                <a:r>
                  <a:rPr lang="ja-JP" altLang="en-US" sz="1800" dirty="0">
                    <a:solidFill>
                      <a:srgbClr val="FFC000"/>
                    </a:solidFill>
                  </a:rPr>
                  <a:t> といって、星空の</a:t>
                </a:r>
                <a:r>
                  <a:rPr lang="en-US" altLang="ja-JP" sz="1800" dirty="0">
                    <a:solidFill>
                      <a:srgbClr val="FFC000"/>
                    </a:solidFill>
                  </a:rPr>
                  <a:t> Shader </a:t>
                </a:r>
                <a:r>
                  <a:rPr lang="ja-JP" altLang="en-US" sz="1800" dirty="0">
                    <a:solidFill>
                      <a:srgbClr val="FFC000"/>
                    </a:solidFill>
                  </a:rPr>
                  <a:t>にも使っています。</a:t>
                </a:r>
                <a:endParaRPr lang="en-US" altLang="ja-JP" sz="1800" dirty="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1915D02-7985-A40F-60C9-072CCDD37C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9928" y="3544503"/>
                <a:ext cx="11235891" cy="1555571"/>
              </a:xfrm>
              <a:blipFill>
                <a:blip r:embed="rId2"/>
                <a:stretch>
                  <a:fillRect l="-488" t="-35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0E14059C-8168-24FD-D663-58F72D198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359" y="818148"/>
            <a:ext cx="2377468" cy="233565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6C1FA4F-5661-34D1-7D2D-00502274C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3693" y="1106906"/>
            <a:ext cx="760095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747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149D9-73B6-1D46-D9CC-8F3451E9D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604C89-29A9-8955-E902-A40713ECB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182246"/>
            <a:ext cx="2001253" cy="635902"/>
          </a:xfrm>
        </p:spPr>
        <p:txBody>
          <a:bodyPr>
            <a:noAutofit/>
          </a:bodyPr>
          <a:lstStyle/>
          <a:p>
            <a:r>
              <a:rPr lang="en-US" altLang="zh-CN" sz="36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Lesson 3</a:t>
            </a:r>
            <a:endParaRPr lang="zh-CN" altLang="en-US" sz="3600" dirty="0">
              <a:solidFill>
                <a:srgbClr val="FFC000"/>
              </a:solidFill>
              <a:latin typeface="Cambria" panose="020405030504060302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C1BAC9-DD63-0450-3B58-3206FEF6F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928" y="3544503"/>
            <a:ext cx="11235891" cy="29568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1800" dirty="0">
                <a:solidFill>
                  <a:srgbClr val="FFC000"/>
                </a:solidFill>
              </a:rPr>
              <a:t>　最後に、右図のように </a:t>
            </a:r>
            <a:r>
              <a:rPr lang="en-US" altLang="ja-JP" sz="1800" dirty="0">
                <a:solidFill>
                  <a:srgbClr val="FFC000"/>
                </a:solidFill>
              </a:rPr>
              <a:t>innerRadius </a:t>
            </a:r>
            <a:r>
              <a:rPr lang="ja-JP" altLang="en-US" sz="1800" dirty="0">
                <a:solidFill>
                  <a:srgbClr val="FFC000"/>
                </a:solidFill>
              </a:rPr>
              <a:t>の値を時間変数と関連付けて、ゲームを実行すると、波紋のように動</a:t>
            </a:r>
            <a:endParaRPr lang="en-US" altLang="ja-JP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1800" dirty="0">
                <a:solidFill>
                  <a:srgbClr val="FFC000"/>
                </a:solidFill>
              </a:rPr>
              <a:t>くようになります！</a:t>
            </a:r>
            <a:endParaRPr lang="en-US" altLang="ja-JP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1800" dirty="0">
                <a:solidFill>
                  <a:srgbClr val="FFC000"/>
                </a:solidFill>
              </a:rPr>
              <a:t>　ここでは、まずゲームタイム</a:t>
            </a:r>
            <a:r>
              <a:rPr lang="en-US" altLang="ja-JP" sz="1800" dirty="0">
                <a:solidFill>
                  <a:srgbClr val="FFC000"/>
                </a:solidFill>
              </a:rPr>
              <a:t>_Time.y</a:t>
            </a:r>
            <a:r>
              <a:rPr lang="ja-JP" altLang="en-US" sz="1800" dirty="0">
                <a:solidFill>
                  <a:srgbClr val="FFC000"/>
                </a:solidFill>
              </a:rPr>
              <a:t>（</a:t>
            </a:r>
            <a:r>
              <a:rPr lang="en-US" altLang="ja-JP" sz="1800" dirty="0">
                <a:solidFill>
                  <a:srgbClr val="FFC000"/>
                </a:solidFill>
              </a:rPr>
              <a:t>Unity</a:t>
            </a:r>
            <a:r>
              <a:rPr lang="ja-JP" altLang="en-US" sz="1800" dirty="0">
                <a:solidFill>
                  <a:srgbClr val="FFC000"/>
                </a:solidFill>
              </a:rPr>
              <a:t>の組み込み変数）を </a:t>
            </a:r>
            <a:r>
              <a:rPr lang="en-US" altLang="ja-JP" sz="1800" dirty="0">
                <a:solidFill>
                  <a:srgbClr val="FFC000"/>
                </a:solidFill>
              </a:rPr>
              <a:t>π </a:t>
            </a:r>
            <a:r>
              <a:rPr lang="ja-JP" altLang="en-US" sz="1800" dirty="0">
                <a:solidFill>
                  <a:srgbClr val="FFC000"/>
                </a:solidFill>
              </a:rPr>
              <a:t>で </a:t>
            </a:r>
            <a:r>
              <a:rPr lang="en-US" altLang="zh-CN" sz="1800" dirty="0">
                <a:solidFill>
                  <a:srgbClr val="FFC000"/>
                </a:solidFill>
              </a:rPr>
              <a:t>module </a:t>
            </a:r>
            <a:r>
              <a:rPr lang="ja-JP" altLang="en-US" sz="1800" dirty="0">
                <a:solidFill>
                  <a:srgbClr val="FFC000"/>
                </a:solidFill>
              </a:rPr>
              <a:t>を取り、変数 </a:t>
            </a:r>
            <a:r>
              <a:rPr lang="en-US" altLang="ja-JP" sz="1800" dirty="0">
                <a:solidFill>
                  <a:srgbClr val="FFC000"/>
                </a:solidFill>
              </a:rPr>
              <a:t>t </a:t>
            </a:r>
            <a:r>
              <a:rPr lang="ja-JP" altLang="en-US" sz="1800" dirty="0">
                <a:solidFill>
                  <a:srgbClr val="FFC000"/>
                </a:solidFill>
              </a:rPr>
              <a:t>を時間ととも</a:t>
            </a:r>
            <a:endParaRPr lang="en-US" altLang="ja-JP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1800" dirty="0">
                <a:solidFill>
                  <a:srgbClr val="FFC000"/>
                </a:solidFill>
              </a:rPr>
              <a:t>に </a:t>
            </a:r>
            <a:r>
              <a:rPr lang="en-US" altLang="ja-JP" sz="1800" dirty="0">
                <a:solidFill>
                  <a:srgbClr val="FFC000"/>
                </a:solidFill>
              </a:rPr>
              <a:t>[0, π)</a:t>
            </a:r>
            <a:r>
              <a:rPr lang="ja-JP" altLang="en-US" sz="1800" dirty="0">
                <a:solidFill>
                  <a:srgbClr val="FFC000"/>
                </a:solidFill>
              </a:rPr>
              <a:t> で変化するようにしました。</a:t>
            </a:r>
            <a:endParaRPr lang="en-US" altLang="ja-JP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1800" dirty="0">
                <a:solidFill>
                  <a:srgbClr val="FFC000"/>
                </a:solidFill>
              </a:rPr>
              <a:t>　次に、</a:t>
            </a:r>
            <a:r>
              <a:rPr lang="en-US" altLang="ja-JP" sz="1800" dirty="0">
                <a:solidFill>
                  <a:srgbClr val="FFC000"/>
                </a:solidFill>
              </a:rPr>
              <a:t> [0, π)</a:t>
            </a:r>
            <a:r>
              <a:rPr lang="ja-JP" altLang="en-US" sz="1800" dirty="0">
                <a:solidFill>
                  <a:srgbClr val="FFC000"/>
                </a:solidFill>
              </a:rPr>
              <a:t> という範囲を </a:t>
            </a:r>
            <a:r>
              <a:rPr lang="en-US" altLang="ja-JP" sz="1800" dirty="0">
                <a:solidFill>
                  <a:srgbClr val="FFC000"/>
                </a:solidFill>
              </a:rPr>
              <a:t>[0, 0.45)</a:t>
            </a:r>
            <a:r>
              <a:rPr lang="ja-JP" altLang="en-US" sz="1800" dirty="0">
                <a:solidFill>
                  <a:srgbClr val="FFC000"/>
                </a:solidFill>
              </a:rPr>
              <a:t>  に </a:t>
            </a:r>
            <a:r>
              <a:rPr lang="en-US" altLang="ja-JP" sz="1800" dirty="0">
                <a:solidFill>
                  <a:srgbClr val="FFC000"/>
                </a:solidFill>
              </a:rPr>
              <a:t>Remap </a:t>
            </a:r>
            <a:r>
              <a:rPr lang="ja-JP" altLang="en-US" sz="1800" dirty="0">
                <a:solidFill>
                  <a:srgbClr val="FFC000"/>
                </a:solidFill>
              </a:rPr>
              <a:t>することで、今回の</a:t>
            </a:r>
            <a:r>
              <a:rPr lang="en-US" altLang="ja-JP" sz="1800" dirty="0">
                <a:solidFill>
                  <a:srgbClr val="FFC000"/>
                </a:solidFill>
              </a:rPr>
              <a:t>NDC</a:t>
            </a:r>
            <a:r>
              <a:rPr lang="ja-JP" altLang="en-US" sz="1800" dirty="0">
                <a:solidFill>
                  <a:srgbClr val="FFC000"/>
                </a:solidFill>
              </a:rPr>
              <a:t>座標系の範囲から、円環がはみ出</a:t>
            </a:r>
            <a:endParaRPr lang="en-US" altLang="ja-JP" sz="18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ja-JP" altLang="en-US" sz="1800" dirty="0">
                <a:solidFill>
                  <a:srgbClr val="FFC000"/>
                </a:solidFill>
              </a:rPr>
              <a:t>さないようにしました。</a:t>
            </a:r>
            <a:endParaRPr lang="en-US" altLang="ja-JP" sz="1800" dirty="0">
              <a:solidFill>
                <a:srgbClr val="FFC00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C52189C-9DB6-8ABE-CBBD-FF7DA9336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359" y="818148"/>
            <a:ext cx="2377468" cy="233565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382A48D-C169-20BA-D613-4952FB1A3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529" y="1657350"/>
            <a:ext cx="5724525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422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6FBEEE-C7F2-E20A-A421-E8F24373F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0071"/>
            <a:ext cx="10515600" cy="1161923"/>
          </a:xfrm>
        </p:spPr>
        <p:txBody>
          <a:bodyPr/>
          <a:lstStyle/>
          <a:p>
            <a:pPr algn="ctr"/>
            <a:r>
              <a:rPr lang="ja-JP" altLang="en-US" b="1" dirty="0">
                <a:solidFill>
                  <a:srgbClr val="FFC000"/>
                </a:solidFill>
                <a:latin typeface="+mn-ea"/>
                <a:ea typeface="+mn-ea"/>
              </a:rPr>
              <a:t>お疲れ様です</a:t>
            </a:r>
            <a:endParaRPr lang="zh-CN" altLang="en-US" b="1" dirty="0">
              <a:solidFill>
                <a:srgbClr val="FFC000"/>
              </a:solidFill>
              <a:latin typeface="+mn-ea"/>
              <a:ea typeface="+mn-ea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35F77F-D39F-2EDD-9232-3BE87DD21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4541" y="5990764"/>
            <a:ext cx="2787315" cy="498058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>
                <a:solidFill>
                  <a:srgbClr val="FFC000"/>
                </a:solidFill>
              </a:rPr>
              <a:t>To be continue…</a:t>
            </a:r>
            <a:endParaRPr lang="zh-CN" altLang="en-US" dirty="0">
              <a:solidFill>
                <a:srgbClr val="FFC000"/>
              </a:solidFill>
            </a:endParaRPr>
          </a:p>
        </p:txBody>
      </p:sp>
      <p:pic>
        <p:nvPicPr>
          <p:cNvPr id="5" name="图片 4" descr="卡通人物&#10;&#10;AI 生成的内容可能不正确。">
            <a:extLst>
              <a:ext uri="{FF2B5EF4-FFF2-40B4-BE49-F238E27FC236}">
                <a16:creationId xmlns:a16="http://schemas.microsoft.com/office/drawing/2014/main" id="{80F2298B-C026-DAB8-E89D-E417774942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2743200"/>
            <a:ext cx="2286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305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</TotalTime>
  <Words>1361</Words>
  <Application>Microsoft Office PowerPoint</Application>
  <PresentationFormat>宽屏</PresentationFormat>
  <Paragraphs>130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等线</vt:lpstr>
      <vt:lpstr>等线 Light</vt:lpstr>
      <vt:lpstr>Arial</vt:lpstr>
      <vt:lpstr>Cambria</vt:lpstr>
      <vt:lpstr>Cambria Math</vt:lpstr>
      <vt:lpstr>Office 主题​​</vt:lpstr>
      <vt:lpstr>HOW TO PLAY THE UNITY SHADER in SIX EASY LESSONS</vt:lpstr>
      <vt:lpstr>全体説明</vt:lpstr>
      <vt:lpstr>Lesson 1</vt:lpstr>
      <vt:lpstr>Lesson 1</vt:lpstr>
      <vt:lpstr>Lesson 1</vt:lpstr>
      <vt:lpstr>Lesson 1</vt:lpstr>
      <vt:lpstr>Lesson 1</vt:lpstr>
      <vt:lpstr>Lesson 2</vt:lpstr>
      <vt:lpstr>Lesson 2</vt:lpstr>
      <vt:lpstr>Lesson 2</vt:lpstr>
      <vt:lpstr>Lesson 3</vt:lpstr>
      <vt:lpstr>Lesson 3</vt:lpstr>
      <vt:lpstr>Lesson 3</vt:lpstr>
      <vt:lpstr>Lesson 3</vt:lpstr>
      <vt:lpstr>お疲れ様です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Z21760</dc:creator>
  <cp:lastModifiedBy>Z21760</cp:lastModifiedBy>
  <cp:revision>127</cp:revision>
  <dcterms:created xsi:type="dcterms:W3CDTF">2025-08-03T03:11:59Z</dcterms:created>
  <dcterms:modified xsi:type="dcterms:W3CDTF">2025-08-03T15:11:38Z</dcterms:modified>
</cp:coreProperties>
</file>